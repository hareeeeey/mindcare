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Default Extension="png" ContentType="image/png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5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5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5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5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5172074"/>
            <a:ext cx="12192000" cy="168592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45800" y="183214"/>
            <a:ext cx="9439833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5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384550" y="2457450"/>
            <a:ext cx="5410834" cy="18211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hareeeeey/mindcare" TargetMode="Externa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02977" y="191128"/>
            <a:ext cx="5186680" cy="435609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b="1">
                <a:solidFill>
                  <a:srgbClr val="FF0000"/>
                </a:solidFill>
                <a:latin typeface="Times New Roman"/>
                <a:cs typeface="Times New Roman"/>
              </a:rPr>
              <a:t>BCA</a:t>
            </a:r>
            <a:r>
              <a:rPr dirty="0" spc="-12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b="1">
                <a:solidFill>
                  <a:srgbClr val="FF0000"/>
                </a:solidFill>
                <a:latin typeface="Times New Roman"/>
                <a:cs typeface="Times New Roman"/>
              </a:rPr>
              <a:t>Final</a:t>
            </a:r>
            <a:r>
              <a:rPr dirty="0" spc="-7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pc="-50" b="1">
                <a:solidFill>
                  <a:srgbClr val="FF0000"/>
                </a:solidFill>
                <a:latin typeface="Times New Roman"/>
                <a:cs typeface="Times New Roman"/>
              </a:rPr>
              <a:t>Year</a:t>
            </a:r>
            <a:r>
              <a:rPr dirty="0" spc="-1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b="1">
                <a:solidFill>
                  <a:srgbClr val="FF0000"/>
                </a:solidFill>
                <a:latin typeface="Times New Roman"/>
                <a:cs typeface="Times New Roman"/>
              </a:rPr>
              <a:t>Project</a:t>
            </a:r>
            <a:r>
              <a:rPr dirty="0" spc="3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b="1">
                <a:solidFill>
                  <a:srgbClr val="FF0000"/>
                </a:solidFill>
                <a:latin typeface="Times New Roman"/>
                <a:cs typeface="Times New Roman"/>
              </a:rPr>
              <a:t>(Review</a:t>
            </a:r>
            <a:r>
              <a:rPr dirty="0" spc="3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pc="-25" b="1">
                <a:solidFill>
                  <a:srgbClr val="FF0000"/>
                </a:solidFill>
                <a:latin typeface="Times New Roman"/>
                <a:cs typeface="Times New Roman"/>
              </a:rPr>
              <a:t>II)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80221" y="821175"/>
            <a:ext cx="10437495" cy="1264285"/>
          </a:xfrm>
          <a:prstGeom prst="rect">
            <a:avLst/>
          </a:prstGeom>
        </p:spPr>
        <p:txBody>
          <a:bodyPr wrap="square" lIns="0" tIns="1054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dirty="0" sz="2300" b="1">
                <a:solidFill>
                  <a:srgbClr val="0070C0"/>
                </a:solidFill>
                <a:latin typeface="Times New Roman"/>
                <a:cs typeface="Times New Roman"/>
              </a:rPr>
              <a:t>AI POWERED </a:t>
            </a:r>
            <a:r>
              <a:rPr dirty="0" sz="2300" spc="-25" b="1">
                <a:solidFill>
                  <a:srgbClr val="0070C0"/>
                </a:solidFill>
                <a:latin typeface="Times New Roman"/>
                <a:cs typeface="Times New Roman"/>
              </a:rPr>
              <a:t>CHATBOT</a:t>
            </a:r>
            <a:r>
              <a:rPr dirty="0" sz="2300" spc="-45" b="1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dirty="0" sz="2300" b="1">
                <a:solidFill>
                  <a:srgbClr val="0070C0"/>
                </a:solidFill>
                <a:latin typeface="Times New Roman"/>
                <a:cs typeface="Times New Roman"/>
              </a:rPr>
              <a:t>FOR </a:t>
            </a:r>
            <a:r>
              <a:rPr dirty="0" sz="2300" spc="-10" b="1">
                <a:solidFill>
                  <a:srgbClr val="0070C0"/>
                </a:solidFill>
                <a:latin typeface="Times New Roman"/>
                <a:cs typeface="Times New Roman"/>
              </a:rPr>
              <a:t>PSYCHOLOGICAL</a:t>
            </a:r>
            <a:r>
              <a:rPr dirty="0" sz="2300" spc="-130" b="1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dirty="0" sz="2300" spc="-10" b="1">
                <a:solidFill>
                  <a:srgbClr val="0070C0"/>
                </a:solidFill>
                <a:latin typeface="Times New Roman"/>
                <a:cs typeface="Times New Roman"/>
              </a:rPr>
              <a:t>FIRST</a:t>
            </a:r>
            <a:r>
              <a:rPr dirty="0" sz="2300" spc="-165" b="1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dirty="0" sz="2300" b="1">
                <a:solidFill>
                  <a:srgbClr val="0070C0"/>
                </a:solidFill>
                <a:latin typeface="Times New Roman"/>
                <a:cs typeface="Times New Roman"/>
              </a:rPr>
              <a:t>AID</a:t>
            </a:r>
            <a:r>
              <a:rPr dirty="0" sz="2300" spc="-130" b="1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dirty="0" sz="2300" b="1">
                <a:solidFill>
                  <a:srgbClr val="0070C0"/>
                </a:solidFill>
                <a:latin typeface="Times New Roman"/>
                <a:cs typeface="Times New Roman"/>
              </a:rPr>
              <a:t>AND </a:t>
            </a:r>
            <a:r>
              <a:rPr dirty="0" sz="2300" spc="-10" b="1">
                <a:solidFill>
                  <a:srgbClr val="0070C0"/>
                </a:solidFill>
                <a:latin typeface="Times New Roman"/>
                <a:cs typeface="Times New Roman"/>
              </a:rPr>
              <a:t>SUPPORT</a:t>
            </a:r>
            <a:endParaRPr sz="2300">
              <a:latin typeface="Times New Roman"/>
              <a:cs typeface="Times New Roman"/>
            </a:endParaRPr>
          </a:p>
          <a:p>
            <a:pPr algn="ctr" marL="746125" marR="549275">
              <a:lnSpc>
                <a:spcPts val="1450"/>
              </a:lnSpc>
              <a:spcBef>
                <a:spcPts val="605"/>
              </a:spcBef>
            </a:pPr>
            <a:r>
              <a:rPr dirty="0" sz="1350" b="1">
                <a:solidFill>
                  <a:srgbClr val="A71180"/>
                </a:solidFill>
                <a:latin typeface="Times New Roman"/>
                <a:cs typeface="Times New Roman"/>
              </a:rPr>
              <a:t>Submitted</a:t>
            </a:r>
            <a:r>
              <a:rPr dirty="0" sz="1350" spc="-35" b="1">
                <a:solidFill>
                  <a:srgbClr val="A71180"/>
                </a:solidFill>
                <a:latin typeface="Times New Roman"/>
                <a:cs typeface="Times New Roman"/>
              </a:rPr>
              <a:t> </a:t>
            </a:r>
            <a:r>
              <a:rPr dirty="0" sz="1350" b="1">
                <a:solidFill>
                  <a:srgbClr val="A71180"/>
                </a:solidFill>
                <a:latin typeface="Times New Roman"/>
                <a:cs typeface="Times New Roman"/>
              </a:rPr>
              <a:t>to</a:t>
            </a:r>
            <a:r>
              <a:rPr dirty="0" sz="1350" spc="-30" b="1">
                <a:solidFill>
                  <a:srgbClr val="A71180"/>
                </a:solidFill>
                <a:latin typeface="Times New Roman"/>
                <a:cs typeface="Times New Roman"/>
              </a:rPr>
              <a:t> </a:t>
            </a:r>
            <a:r>
              <a:rPr dirty="0" sz="1350" b="1">
                <a:solidFill>
                  <a:srgbClr val="A71180"/>
                </a:solidFill>
                <a:latin typeface="Times New Roman"/>
                <a:cs typeface="Times New Roman"/>
              </a:rPr>
              <a:t>the</a:t>
            </a:r>
            <a:r>
              <a:rPr dirty="0" sz="1350" spc="-35" b="1">
                <a:solidFill>
                  <a:srgbClr val="A71180"/>
                </a:solidFill>
                <a:latin typeface="Times New Roman"/>
                <a:cs typeface="Times New Roman"/>
              </a:rPr>
              <a:t> </a:t>
            </a:r>
            <a:r>
              <a:rPr dirty="0" sz="1350" spc="-10" b="1">
                <a:solidFill>
                  <a:srgbClr val="A71180"/>
                </a:solidFill>
                <a:latin typeface="Times New Roman"/>
                <a:cs typeface="Times New Roman"/>
              </a:rPr>
              <a:t>Presidency</a:t>
            </a:r>
            <a:r>
              <a:rPr dirty="0" sz="1350" spc="-30" b="1">
                <a:solidFill>
                  <a:srgbClr val="A71180"/>
                </a:solidFill>
                <a:latin typeface="Times New Roman"/>
                <a:cs typeface="Times New Roman"/>
              </a:rPr>
              <a:t> </a:t>
            </a:r>
            <a:r>
              <a:rPr dirty="0" sz="1350" spc="-10" b="1">
                <a:solidFill>
                  <a:srgbClr val="A71180"/>
                </a:solidFill>
                <a:latin typeface="Times New Roman"/>
                <a:cs typeface="Times New Roman"/>
              </a:rPr>
              <a:t>University,</a:t>
            </a:r>
            <a:r>
              <a:rPr dirty="0" sz="1350" spc="-35" b="1">
                <a:solidFill>
                  <a:srgbClr val="A71180"/>
                </a:solidFill>
                <a:latin typeface="Times New Roman"/>
                <a:cs typeface="Times New Roman"/>
              </a:rPr>
              <a:t> </a:t>
            </a:r>
            <a:r>
              <a:rPr dirty="0" sz="1350" b="1">
                <a:solidFill>
                  <a:srgbClr val="A71180"/>
                </a:solidFill>
                <a:latin typeface="Times New Roman"/>
                <a:cs typeface="Times New Roman"/>
              </a:rPr>
              <a:t>Bengaluru</a:t>
            </a:r>
            <a:r>
              <a:rPr dirty="0" sz="1350" spc="-30" b="1">
                <a:solidFill>
                  <a:srgbClr val="A71180"/>
                </a:solidFill>
                <a:latin typeface="Times New Roman"/>
                <a:cs typeface="Times New Roman"/>
              </a:rPr>
              <a:t> </a:t>
            </a:r>
            <a:r>
              <a:rPr dirty="0" sz="1350" b="1">
                <a:solidFill>
                  <a:srgbClr val="A71180"/>
                </a:solidFill>
                <a:latin typeface="Times New Roman"/>
                <a:cs typeface="Times New Roman"/>
              </a:rPr>
              <a:t>in</a:t>
            </a:r>
            <a:r>
              <a:rPr dirty="0" sz="1350" spc="-30" b="1">
                <a:solidFill>
                  <a:srgbClr val="A71180"/>
                </a:solidFill>
                <a:latin typeface="Times New Roman"/>
                <a:cs typeface="Times New Roman"/>
              </a:rPr>
              <a:t> </a:t>
            </a:r>
            <a:r>
              <a:rPr dirty="0" sz="1350" b="1">
                <a:solidFill>
                  <a:srgbClr val="A71180"/>
                </a:solidFill>
                <a:latin typeface="Times New Roman"/>
                <a:cs typeface="Times New Roman"/>
              </a:rPr>
              <a:t>partial</a:t>
            </a:r>
            <a:r>
              <a:rPr dirty="0" sz="1350" spc="-35" b="1">
                <a:solidFill>
                  <a:srgbClr val="A71180"/>
                </a:solidFill>
                <a:latin typeface="Times New Roman"/>
                <a:cs typeface="Times New Roman"/>
              </a:rPr>
              <a:t> </a:t>
            </a:r>
            <a:r>
              <a:rPr dirty="0" sz="1350" b="1">
                <a:solidFill>
                  <a:srgbClr val="A71180"/>
                </a:solidFill>
                <a:latin typeface="Times New Roman"/>
                <a:cs typeface="Times New Roman"/>
              </a:rPr>
              <a:t>fulfilment</a:t>
            </a:r>
            <a:r>
              <a:rPr dirty="0" sz="1350" spc="275" b="1">
                <a:solidFill>
                  <a:srgbClr val="A71180"/>
                </a:solidFill>
                <a:latin typeface="Times New Roman"/>
                <a:cs typeface="Times New Roman"/>
              </a:rPr>
              <a:t> </a:t>
            </a:r>
            <a:r>
              <a:rPr dirty="0" sz="1350" b="1">
                <a:solidFill>
                  <a:srgbClr val="A71180"/>
                </a:solidFill>
                <a:latin typeface="Times New Roman"/>
                <a:cs typeface="Times New Roman"/>
              </a:rPr>
              <a:t>for</a:t>
            </a:r>
            <a:r>
              <a:rPr dirty="0" sz="1350" spc="-55" b="1">
                <a:solidFill>
                  <a:srgbClr val="A71180"/>
                </a:solidFill>
                <a:latin typeface="Times New Roman"/>
                <a:cs typeface="Times New Roman"/>
              </a:rPr>
              <a:t> </a:t>
            </a:r>
            <a:r>
              <a:rPr dirty="0" sz="1350" b="1">
                <a:solidFill>
                  <a:srgbClr val="A71180"/>
                </a:solidFill>
                <a:latin typeface="Times New Roman"/>
                <a:cs typeface="Times New Roman"/>
              </a:rPr>
              <a:t>the</a:t>
            </a:r>
            <a:r>
              <a:rPr dirty="0" sz="1350" spc="-30" b="1">
                <a:solidFill>
                  <a:srgbClr val="A71180"/>
                </a:solidFill>
                <a:latin typeface="Times New Roman"/>
                <a:cs typeface="Times New Roman"/>
              </a:rPr>
              <a:t> </a:t>
            </a:r>
            <a:r>
              <a:rPr dirty="0" sz="1350" b="1">
                <a:solidFill>
                  <a:srgbClr val="A71180"/>
                </a:solidFill>
                <a:latin typeface="Times New Roman"/>
                <a:cs typeface="Times New Roman"/>
              </a:rPr>
              <a:t>award</a:t>
            </a:r>
            <a:r>
              <a:rPr dirty="0" sz="1350" spc="-30" b="1">
                <a:solidFill>
                  <a:srgbClr val="A71180"/>
                </a:solidFill>
                <a:latin typeface="Times New Roman"/>
                <a:cs typeface="Times New Roman"/>
              </a:rPr>
              <a:t> </a:t>
            </a:r>
            <a:r>
              <a:rPr dirty="0" sz="1350" b="1">
                <a:solidFill>
                  <a:srgbClr val="A71180"/>
                </a:solidFill>
                <a:latin typeface="Times New Roman"/>
                <a:cs typeface="Times New Roman"/>
              </a:rPr>
              <a:t>of</a:t>
            </a:r>
            <a:r>
              <a:rPr dirty="0" sz="1350" spc="-35" b="1">
                <a:solidFill>
                  <a:srgbClr val="A71180"/>
                </a:solidFill>
                <a:latin typeface="Times New Roman"/>
                <a:cs typeface="Times New Roman"/>
              </a:rPr>
              <a:t> </a:t>
            </a:r>
            <a:r>
              <a:rPr dirty="0" sz="1350" b="1">
                <a:solidFill>
                  <a:srgbClr val="A71180"/>
                </a:solidFill>
                <a:latin typeface="Times New Roman"/>
                <a:cs typeface="Times New Roman"/>
              </a:rPr>
              <a:t>the</a:t>
            </a:r>
            <a:r>
              <a:rPr dirty="0" sz="1350" spc="-30" b="1">
                <a:solidFill>
                  <a:srgbClr val="A71180"/>
                </a:solidFill>
                <a:latin typeface="Times New Roman"/>
                <a:cs typeface="Times New Roman"/>
              </a:rPr>
              <a:t> </a:t>
            </a:r>
            <a:r>
              <a:rPr dirty="0" sz="1350" b="1">
                <a:solidFill>
                  <a:srgbClr val="A71180"/>
                </a:solidFill>
                <a:latin typeface="Times New Roman"/>
                <a:cs typeface="Times New Roman"/>
              </a:rPr>
              <a:t>degree</a:t>
            </a:r>
            <a:r>
              <a:rPr dirty="0" sz="1350" spc="-35" b="1">
                <a:solidFill>
                  <a:srgbClr val="A71180"/>
                </a:solidFill>
                <a:latin typeface="Times New Roman"/>
                <a:cs typeface="Times New Roman"/>
              </a:rPr>
              <a:t> </a:t>
            </a:r>
            <a:r>
              <a:rPr dirty="0" sz="1350" b="1">
                <a:solidFill>
                  <a:srgbClr val="A71180"/>
                </a:solidFill>
                <a:latin typeface="Times New Roman"/>
                <a:cs typeface="Times New Roman"/>
              </a:rPr>
              <a:t>of</a:t>
            </a:r>
            <a:r>
              <a:rPr dirty="0" sz="1350" spc="275" b="1">
                <a:solidFill>
                  <a:srgbClr val="A71180"/>
                </a:solidFill>
                <a:latin typeface="Times New Roman"/>
                <a:cs typeface="Times New Roman"/>
              </a:rPr>
              <a:t> </a:t>
            </a:r>
            <a:r>
              <a:rPr dirty="0" sz="1350" spc="-10" b="1">
                <a:solidFill>
                  <a:srgbClr val="A71180"/>
                </a:solidFill>
                <a:latin typeface="Times New Roman"/>
                <a:cs typeface="Times New Roman"/>
              </a:rPr>
              <a:t>Bachelor</a:t>
            </a:r>
            <a:r>
              <a:rPr dirty="0" sz="1350" spc="-55" b="1">
                <a:solidFill>
                  <a:srgbClr val="A71180"/>
                </a:solidFill>
                <a:latin typeface="Times New Roman"/>
                <a:cs typeface="Times New Roman"/>
              </a:rPr>
              <a:t> </a:t>
            </a:r>
            <a:r>
              <a:rPr dirty="0" sz="1350" b="1">
                <a:solidFill>
                  <a:srgbClr val="A71180"/>
                </a:solidFill>
                <a:latin typeface="Times New Roman"/>
                <a:cs typeface="Times New Roman"/>
              </a:rPr>
              <a:t>of</a:t>
            </a:r>
            <a:r>
              <a:rPr dirty="0" sz="1350" spc="-30" b="1">
                <a:solidFill>
                  <a:srgbClr val="A71180"/>
                </a:solidFill>
                <a:latin typeface="Times New Roman"/>
                <a:cs typeface="Times New Roman"/>
              </a:rPr>
              <a:t> </a:t>
            </a:r>
            <a:r>
              <a:rPr dirty="0" sz="1350" spc="-10" b="1">
                <a:solidFill>
                  <a:srgbClr val="A71180"/>
                </a:solidFill>
                <a:latin typeface="Times New Roman"/>
                <a:cs typeface="Times New Roman"/>
              </a:rPr>
              <a:t>Computer Applications(BCA)</a:t>
            </a:r>
            <a:endParaRPr sz="1350">
              <a:latin typeface="Times New Roman"/>
              <a:cs typeface="Times New Roman"/>
            </a:endParaRPr>
          </a:p>
          <a:p>
            <a:pPr algn="ctr" marL="186055">
              <a:lnSpc>
                <a:spcPct val="100000"/>
              </a:lnSpc>
              <a:spcBef>
                <a:spcPts val="715"/>
              </a:spcBef>
            </a:pPr>
            <a:r>
              <a:rPr dirty="0" sz="1700" b="1">
                <a:solidFill>
                  <a:srgbClr val="FF0000"/>
                </a:solidFill>
                <a:latin typeface="Times New Roman"/>
                <a:cs typeface="Times New Roman"/>
              </a:rPr>
              <a:t>Project</a:t>
            </a:r>
            <a:r>
              <a:rPr dirty="0" sz="1700" spc="-2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700" spc="-10" b="1">
                <a:solidFill>
                  <a:srgbClr val="FF0000"/>
                </a:solidFill>
                <a:latin typeface="Times New Roman"/>
                <a:cs typeface="Times New Roman"/>
              </a:rPr>
              <a:t>Team</a:t>
            </a:r>
            <a:r>
              <a:rPr dirty="0" sz="1700" spc="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700" b="1">
                <a:solidFill>
                  <a:srgbClr val="FF0000"/>
                </a:solidFill>
                <a:latin typeface="Times New Roman"/>
                <a:cs typeface="Times New Roman"/>
              </a:rPr>
              <a:t>No</a:t>
            </a:r>
            <a:r>
              <a:rPr dirty="0" sz="1700" spc="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700" b="1">
                <a:solidFill>
                  <a:srgbClr val="FF0000"/>
                </a:solidFill>
                <a:latin typeface="Times New Roman"/>
                <a:cs typeface="Times New Roman"/>
              </a:rPr>
              <a:t>:</a:t>
            </a:r>
            <a:r>
              <a:rPr dirty="0" sz="1700" spc="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700" spc="-10" b="1">
                <a:solidFill>
                  <a:srgbClr val="FF0000"/>
                </a:solidFill>
                <a:latin typeface="Times New Roman"/>
                <a:cs typeface="Times New Roman"/>
              </a:rPr>
              <a:t>BCA_MP_89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32912" y="4503609"/>
            <a:ext cx="3317875" cy="1034415"/>
          </a:xfrm>
          <a:prstGeom prst="rect">
            <a:avLst/>
          </a:prstGeom>
        </p:spPr>
        <p:txBody>
          <a:bodyPr wrap="square" lIns="0" tIns="622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90"/>
              </a:spcBef>
            </a:pPr>
            <a:r>
              <a:rPr dirty="0" sz="1350" b="1">
                <a:latin typeface="Times New Roman"/>
                <a:cs typeface="Times New Roman"/>
              </a:rPr>
              <a:t>Under</a:t>
            </a:r>
            <a:r>
              <a:rPr dirty="0" sz="1350" spc="-45" b="1">
                <a:latin typeface="Times New Roman"/>
                <a:cs typeface="Times New Roman"/>
              </a:rPr>
              <a:t> </a:t>
            </a:r>
            <a:r>
              <a:rPr dirty="0" sz="1350" b="1">
                <a:latin typeface="Times New Roman"/>
                <a:cs typeface="Times New Roman"/>
              </a:rPr>
              <a:t>the</a:t>
            </a:r>
            <a:r>
              <a:rPr dirty="0" sz="1350" spc="-15" b="1">
                <a:latin typeface="Times New Roman"/>
                <a:cs typeface="Times New Roman"/>
              </a:rPr>
              <a:t> </a:t>
            </a:r>
            <a:r>
              <a:rPr dirty="0" sz="1350" spc="-10" b="1">
                <a:latin typeface="Times New Roman"/>
                <a:cs typeface="Times New Roman"/>
              </a:rPr>
              <a:t>supervision</a:t>
            </a:r>
            <a:r>
              <a:rPr dirty="0" sz="1350" spc="-20" b="1">
                <a:latin typeface="Times New Roman"/>
                <a:cs typeface="Times New Roman"/>
              </a:rPr>
              <a:t> </a:t>
            </a:r>
            <a:r>
              <a:rPr dirty="0" sz="1350" spc="-25" b="1">
                <a:latin typeface="Times New Roman"/>
                <a:cs typeface="Times New Roman"/>
              </a:rPr>
              <a:t>of</a:t>
            </a:r>
            <a:endParaRPr sz="1350">
              <a:latin typeface="Times New Roman"/>
              <a:cs typeface="Times New Roman"/>
            </a:endParaRPr>
          </a:p>
          <a:p>
            <a:pPr algn="ctr">
              <a:lnSpc>
                <a:spcPts val="2575"/>
              </a:lnSpc>
              <a:spcBef>
                <a:spcPts val="690"/>
              </a:spcBef>
            </a:pPr>
            <a:r>
              <a:rPr dirty="0" sz="2300" spc="-85" b="1">
                <a:solidFill>
                  <a:srgbClr val="C00000"/>
                </a:solidFill>
                <a:latin typeface="Times New Roman"/>
                <a:cs typeface="Times New Roman"/>
              </a:rPr>
              <a:t>Mr.</a:t>
            </a:r>
            <a:r>
              <a:rPr dirty="0" sz="2300" spc="-130" b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300" b="1">
                <a:solidFill>
                  <a:srgbClr val="C00000"/>
                </a:solidFill>
                <a:latin typeface="Times New Roman"/>
                <a:cs typeface="Times New Roman"/>
              </a:rPr>
              <a:t>Akshay</a:t>
            </a:r>
            <a:r>
              <a:rPr dirty="0" sz="2300" spc="-15" b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300" b="1">
                <a:solidFill>
                  <a:srgbClr val="C00000"/>
                </a:solidFill>
                <a:latin typeface="Times New Roman"/>
                <a:cs typeface="Times New Roman"/>
              </a:rPr>
              <a:t>Dilip</a:t>
            </a:r>
            <a:r>
              <a:rPr dirty="0" sz="2300" spc="-10" b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300" spc="-20" b="1">
                <a:solidFill>
                  <a:srgbClr val="C00000"/>
                </a:solidFill>
                <a:latin typeface="Times New Roman"/>
                <a:cs typeface="Times New Roman"/>
              </a:rPr>
              <a:t>Palve</a:t>
            </a:r>
            <a:endParaRPr sz="2300">
              <a:latin typeface="Times New Roman"/>
              <a:cs typeface="Times New Roman"/>
            </a:endParaRPr>
          </a:p>
          <a:p>
            <a:pPr algn="ctr" marL="2540">
              <a:lnSpc>
                <a:spcPts val="1120"/>
              </a:lnSpc>
            </a:pPr>
            <a:r>
              <a:rPr dirty="0" sz="1150" b="1">
                <a:solidFill>
                  <a:srgbClr val="C00000"/>
                </a:solidFill>
                <a:latin typeface="Times New Roman"/>
                <a:cs typeface="Times New Roman"/>
              </a:rPr>
              <a:t>Assistant</a:t>
            </a:r>
            <a:r>
              <a:rPr dirty="0" sz="1150" spc="-35" b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1150" spc="-10" b="1">
                <a:solidFill>
                  <a:srgbClr val="C00000"/>
                </a:solidFill>
                <a:latin typeface="Times New Roman"/>
                <a:cs typeface="Times New Roman"/>
              </a:rPr>
              <a:t>Professor</a:t>
            </a:r>
            <a:endParaRPr sz="1150">
              <a:latin typeface="Times New Roman"/>
              <a:cs typeface="Times New Roman"/>
            </a:endParaRPr>
          </a:p>
          <a:p>
            <a:pPr algn="ctr">
              <a:lnSpc>
                <a:spcPts val="1550"/>
              </a:lnSpc>
            </a:pPr>
            <a:r>
              <a:rPr dirty="0" sz="1350" b="1">
                <a:solidFill>
                  <a:srgbClr val="C00000"/>
                </a:solidFill>
                <a:latin typeface="Times New Roman"/>
                <a:cs typeface="Times New Roman"/>
              </a:rPr>
              <a:t>School</a:t>
            </a:r>
            <a:r>
              <a:rPr dirty="0" sz="1350" spc="-35" b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1350" b="1">
                <a:solidFill>
                  <a:srgbClr val="C00000"/>
                </a:solidFill>
                <a:latin typeface="Times New Roman"/>
                <a:cs typeface="Times New Roman"/>
              </a:rPr>
              <a:t>of</a:t>
            </a:r>
            <a:r>
              <a:rPr dirty="0" sz="1350" spc="-30" b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1350" spc="-10" b="1">
                <a:solidFill>
                  <a:srgbClr val="C00000"/>
                </a:solidFill>
                <a:latin typeface="Times New Roman"/>
                <a:cs typeface="Times New Roman"/>
              </a:rPr>
              <a:t>Computer</a:t>
            </a:r>
            <a:r>
              <a:rPr dirty="0" sz="1350" spc="-55" b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1350" b="1">
                <a:solidFill>
                  <a:srgbClr val="C00000"/>
                </a:solidFill>
                <a:latin typeface="Times New Roman"/>
                <a:cs typeface="Times New Roman"/>
              </a:rPr>
              <a:t>Science</a:t>
            </a:r>
            <a:r>
              <a:rPr dirty="0" sz="1350" spc="-35" b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1350" b="1">
                <a:solidFill>
                  <a:srgbClr val="C00000"/>
                </a:solidFill>
                <a:latin typeface="Times New Roman"/>
                <a:cs typeface="Times New Roman"/>
              </a:rPr>
              <a:t>and</a:t>
            </a:r>
            <a:r>
              <a:rPr dirty="0" sz="1350" spc="-30" b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1350" spc="-10" b="1">
                <a:solidFill>
                  <a:srgbClr val="C00000"/>
                </a:solidFill>
                <a:latin typeface="Times New Roman"/>
                <a:cs typeface="Times New Roman"/>
              </a:rPr>
              <a:t>Engineering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218138" y="6414144"/>
            <a:ext cx="1028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898989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422650" y="2457450"/>
          <a:ext cx="5410834" cy="18211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60650"/>
                <a:gridCol w="2660650"/>
              </a:tblGrid>
              <a:tr h="3733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dirty="0" sz="1800" spc="-2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Name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11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69215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Roll</a:t>
                      </a:r>
                      <a:r>
                        <a:rPr dirty="0" sz="1800" spc="-2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Number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11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SREEHARI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NK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20231BCD0045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ASWIN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PV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47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20231BCD0003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47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GHANSYAM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PAL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47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20231BCD0052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47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MOHAMMAD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SHAZIL</a:t>
                      </a:r>
                      <a:r>
                        <a:rPr dirty="0" sz="1600" spc="-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50">
                          <a:latin typeface="Times New Roman"/>
                          <a:cs typeface="Times New Roman"/>
                        </a:rPr>
                        <a:t>C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47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20231BCD0087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47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978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10"/>
              <a:t>Content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5800" y="1095106"/>
            <a:ext cx="2444115" cy="2065655"/>
          </a:xfrm>
          <a:prstGeom prst="rect">
            <a:avLst/>
          </a:prstGeom>
        </p:spPr>
        <p:txBody>
          <a:bodyPr wrap="square" lIns="0" tIns="90805" rIns="0" bIns="0" rtlCol="0" vert="horz">
            <a:spAutoFit/>
          </a:bodyPr>
          <a:lstStyle/>
          <a:p>
            <a:pPr marL="123825" indent="-111125">
              <a:lnSpc>
                <a:spcPct val="100000"/>
              </a:lnSpc>
              <a:spcBef>
                <a:spcPts val="715"/>
              </a:spcBef>
              <a:buChar char="•"/>
              <a:tabLst>
                <a:tab pos="123825" algn="l"/>
              </a:tabLst>
            </a:pP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Problem</a:t>
            </a:r>
            <a:r>
              <a:rPr dirty="0" sz="1400" spc="-2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Statement</a:t>
            </a:r>
            <a:endParaRPr sz="1400">
              <a:latin typeface="Arial MT"/>
              <a:cs typeface="Arial MT"/>
            </a:endParaRPr>
          </a:p>
          <a:p>
            <a:pPr marL="123825" indent="-111125">
              <a:lnSpc>
                <a:spcPct val="100000"/>
              </a:lnSpc>
              <a:spcBef>
                <a:spcPts val="615"/>
              </a:spcBef>
              <a:buChar char="•"/>
              <a:tabLst>
                <a:tab pos="123825" algn="l"/>
              </a:tabLst>
            </a:pP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Literature</a:t>
            </a:r>
            <a:r>
              <a:rPr dirty="0" sz="1400" spc="-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Review</a:t>
            </a:r>
            <a:endParaRPr sz="1400">
              <a:latin typeface="Arial MT"/>
              <a:cs typeface="Arial MT"/>
            </a:endParaRPr>
          </a:p>
          <a:p>
            <a:pPr marL="123825" indent="-111125">
              <a:lnSpc>
                <a:spcPct val="100000"/>
              </a:lnSpc>
              <a:spcBef>
                <a:spcPts val="615"/>
              </a:spcBef>
              <a:buChar char="•"/>
              <a:tabLst>
                <a:tab pos="123825" algn="l"/>
              </a:tabLst>
            </a:pP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Module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 Design</a:t>
            </a:r>
            <a:endParaRPr sz="1400">
              <a:latin typeface="Arial MT"/>
              <a:cs typeface="Arial MT"/>
            </a:endParaRPr>
          </a:p>
          <a:p>
            <a:pPr marL="120650" indent="-107950">
              <a:lnSpc>
                <a:spcPct val="100000"/>
              </a:lnSpc>
              <a:spcBef>
                <a:spcPts val="615"/>
              </a:spcBef>
              <a:buChar char="•"/>
              <a:tabLst>
                <a:tab pos="120650" algn="l"/>
              </a:tabLst>
            </a:pPr>
            <a:r>
              <a:rPr dirty="0" sz="1400" spc="-20">
                <a:solidFill>
                  <a:srgbClr val="111111"/>
                </a:solidFill>
                <a:latin typeface="Arial MT"/>
                <a:cs typeface="Arial MT"/>
              </a:rPr>
              <a:t>Tools</a:t>
            </a:r>
            <a:r>
              <a:rPr dirty="0" sz="1400" spc="-4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and</a:t>
            </a:r>
            <a:r>
              <a:rPr dirty="0" sz="1400" spc="-6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Technologies</a:t>
            </a:r>
            <a:r>
              <a:rPr dirty="0" sz="1400" spc="-3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 spc="-20">
                <a:solidFill>
                  <a:srgbClr val="111111"/>
                </a:solidFill>
                <a:latin typeface="Arial MT"/>
                <a:cs typeface="Arial MT"/>
              </a:rPr>
              <a:t>Used</a:t>
            </a:r>
            <a:endParaRPr sz="1400">
              <a:latin typeface="Arial MT"/>
              <a:cs typeface="Arial MT"/>
            </a:endParaRPr>
          </a:p>
          <a:p>
            <a:pPr marL="123825" indent="-111125">
              <a:lnSpc>
                <a:spcPct val="100000"/>
              </a:lnSpc>
              <a:spcBef>
                <a:spcPts val="615"/>
              </a:spcBef>
              <a:buChar char="•"/>
              <a:tabLst>
                <a:tab pos="123825" algn="l"/>
              </a:tabLst>
            </a:pP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GitHub</a:t>
            </a:r>
            <a:r>
              <a:rPr dirty="0" sz="1400" spc="-2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 spc="-20">
                <a:solidFill>
                  <a:srgbClr val="111111"/>
                </a:solidFill>
                <a:latin typeface="Arial MT"/>
                <a:cs typeface="Arial MT"/>
              </a:rPr>
              <a:t>Link</a:t>
            </a:r>
            <a:endParaRPr sz="1400">
              <a:latin typeface="Arial MT"/>
              <a:cs typeface="Arial MT"/>
            </a:endParaRPr>
          </a:p>
          <a:p>
            <a:pPr marL="120650" indent="-107950">
              <a:lnSpc>
                <a:spcPct val="100000"/>
              </a:lnSpc>
              <a:spcBef>
                <a:spcPts val="615"/>
              </a:spcBef>
              <a:buChar char="•"/>
              <a:tabLst>
                <a:tab pos="120650" algn="l"/>
              </a:tabLst>
            </a:pP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Timeline</a:t>
            </a:r>
            <a:r>
              <a:rPr dirty="0" sz="1400" spc="-2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of</a:t>
            </a:r>
            <a:r>
              <a:rPr dirty="0" sz="1400" spc="-3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the</a:t>
            </a:r>
            <a:r>
              <a:rPr dirty="0" sz="1400" spc="-2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Project</a:t>
            </a:r>
            <a:endParaRPr sz="1400">
              <a:latin typeface="Arial MT"/>
              <a:cs typeface="Arial MT"/>
            </a:endParaRPr>
          </a:p>
          <a:p>
            <a:pPr marL="123825" indent="-111125">
              <a:lnSpc>
                <a:spcPct val="100000"/>
              </a:lnSpc>
              <a:spcBef>
                <a:spcPts val="615"/>
              </a:spcBef>
              <a:buChar char="•"/>
              <a:tabLst>
                <a:tab pos="123825" algn="l"/>
              </a:tabLst>
            </a:pP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References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9784" rIns="0" bIns="0" rtlCol="0" vert="horz">
            <a:spAutoFit/>
          </a:bodyPr>
          <a:lstStyle/>
          <a:p>
            <a:pPr marL="3923665">
              <a:lnSpc>
                <a:spcPct val="100000"/>
              </a:lnSpc>
              <a:spcBef>
                <a:spcPts val="90"/>
              </a:spcBef>
            </a:pPr>
            <a:r>
              <a:rPr dirty="0" spc="-10"/>
              <a:t>Problem</a:t>
            </a:r>
            <a:r>
              <a:rPr dirty="0" spc="-90"/>
              <a:t> </a:t>
            </a:r>
            <a:r>
              <a:rPr dirty="0" spc="-10"/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05136" y="1219840"/>
            <a:ext cx="4789805" cy="34620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Students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frequently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experience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emotional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challenges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due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 spc="-25">
                <a:solidFill>
                  <a:srgbClr val="111111"/>
                </a:solidFill>
                <a:latin typeface="Arial MT"/>
                <a:cs typeface="Arial MT"/>
              </a:rPr>
              <a:t>to: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00"/>
              </a:spcBef>
            </a:pPr>
            <a:endParaRPr sz="1400">
              <a:latin typeface="Arial MT"/>
              <a:cs typeface="Arial MT"/>
            </a:endParaRPr>
          </a:p>
          <a:p>
            <a:pPr marL="113664" indent="-100965">
              <a:lnSpc>
                <a:spcPct val="100000"/>
              </a:lnSpc>
              <a:buChar char="•"/>
              <a:tabLst>
                <a:tab pos="113664" algn="l"/>
              </a:tabLst>
            </a:pP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Academic</a:t>
            </a:r>
            <a:r>
              <a:rPr dirty="0" sz="1400" spc="-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stress</a:t>
            </a:r>
            <a:endParaRPr sz="1400">
              <a:latin typeface="Arial MT"/>
              <a:cs typeface="Arial MT"/>
            </a:endParaRPr>
          </a:p>
          <a:p>
            <a:pPr marL="113664" indent="-100965">
              <a:lnSpc>
                <a:spcPct val="100000"/>
              </a:lnSpc>
              <a:spcBef>
                <a:spcPts val="615"/>
              </a:spcBef>
              <a:buChar char="•"/>
              <a:tabLst>
                <a:tab pos="113664" algn="l"/>
              </a:tabLst>
            </a:pP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Anxiety</a:t>
            </a:r>
            <a:r>
              <a:rPr dirty="0" sz="1400" spc="-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before</a:t>
            </a:r>
            <a:r>
              <a:rPr dirty="0" sz="1400" spc="-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examinations</a:t>
            </a:r>
            <a:endParaRPr sz="1400">
              <a:latin typeface="Arial MT"/>
              <a:cs typeface="Arial MT"/>
            </a:endParaRPr>
          </a:p>
          <a:p>
            <a:pPr marL="123825" indent="-111125">
              <a:lnSpc>
                <a:spcPct val="100000"/>
              </a:lnSpc>
              <a:spcBef>
                <a:spcPts val="615"/>
              </a:spcBef>
              <a:buChar char="•"/>
              <a:tabLst>
                <a:tab pos="123825" algn="l"/>
              </a:tabLst>
            </a:pP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Lack</a:t>
            </a:r>
            <a:r>
              <a:rPr dirty="0" sz="1400" spc="-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of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emotional</a:t>
            </a:r>
            <a:r>
              <a:rPr dirty="0" sz="1400" spc="-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support</a:t>
            </a:r>
            <a:endParaRPr sz="1400">
              <a:latin typeface="Arial MT"/>
              <a:cs typeface="Arial MT"/>
            </a:endParaRPr>
          </a:p>
          <a:p>
            <a:pPr marL="123825" indent="-111125">
              <a:lnSpc>
                <a:spcPct val="100000"/>
              </a:lnSpc>
              <a:spcBef>
                <a:spcPts val="615"/>
              </a:spcBef>
              <a:buChar char="•"/>
              <a:tabLst>
                <a:tab pos="123825" algn="l"/>
              </a:tabLst>
            </a:pP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Hesitation</a:t>
            </a:r>
            <a:r>
              <a:rPr dirty="0" sz="1400" spc="-2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to</a:t>
            </a:r>
            <a:r>
              <a:rPr dirty="0" sz="1400" spc="-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seek</a:t>
            </a:r>
            <a:r>
              <a:rPr dirty="0" sz="1400" spc="-2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professional</a:t>
            </a:r>
            <a:r>
              <a:rPr dirty="0" sz="1400" spc="-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 spc="-20">
                <a:solidFill>
                  <a:srgbClr val="111111"/>
                </a:solidFill>
                <a:latin typeface="Arial MT"/>
                <a:cs typeface="Arial MT"/>
              </a:rPr>
              <a:t>help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5"/>
              </a:spcBef>
              <a:buClr>
                <a:srgbClr val="111111"/>
              </a:buClr>
              <a:buFont typeface="Arial MT"/>
              <a:buChar char="•"/>
            </a:pP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500" b="1">
                <a:solidFill>
                  <a:srgbClr val="111111"/>
                </a:solidFill>
                <a:latin typeface="Arial"/>
                <a:cs typeface="Arial"/>
              </a:rPr>
              <a:t>Limitations</a:t>
            </a:r>
            <a:r>
              <a:rPr dirty="0" sz="1500" spc="-3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111111"/>
                </a:solidFill>
                <a:latin typeface="Arial"/>
                <a:cs typeface="Arial"/>
              </a:rPr>
              <a:t>of</a:t>
            </a:r>
            <a:r>
              <a:rPr dirty="0" sz="1500" spc="-3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111111"/>
                </a:solidFill>
                <a:latin typeface="Arial"/>
                <a:cs typeface="Arial"/>
              </a:rPr>
              <a:t>Existing</a:t>
            </a:r>
            <a:r>
              <a:rPr dirty="0" sz="1500" spc="-3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111111"/>
                </a:solidFill>
                <a:latin typeface="Arial"/>
                <a:cs typeface="Arial"/>
              </a:rPr>
              <a:t>Systems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25"/>
              </a:spcBef>
            </a:pPr>
            <a:endParaRPr sz="1500">
              <a:latin typeface="Arial"/>
              <a:cs typeface="Arial"/>
            </a:endParaRPr>
          </a:p>
          <a:p>
            <a:pPr marL="123825" indent="-111125">
              <a:lnSpc>
                <a:spcPct val="100000"/>
              </a:lnSpc>
              <a:buChar char="•"/>
              <a:tabLst>
                <a:tab pos="123825" algn="l"/>
              </a:tabLst>
            </a:pP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Many</a:t>
            </a:r>
            <a:r>
              <a:rPr dirty="0" sz="1400" spc="-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chatbots</a:t>
            </a:r>
            <a:r>
              <a:rPr dirty="0" sz="1400" spc="-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depend</a:t>
            </a:r>
            <a:r>
              <a:rPr dirty="0" sz="1400" spc="-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on</a:t>
            </a:r>
            <a:r>
              <a:rPr dirty="0" sz="1400" spc="-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internet</a:t>
            </a:r>
            <a:r>
              <a:rPr dirty="0" sz="1400" spc="-8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 spc="-20">
                <a:solidFill>
                  <a:srgbClr val="111111"/>
                </a:solidFill>
                <a:latin typeface="Arial MT"/>
                <a:cs typeface="Arial MT"/>
              </a:rPr>
              <a:t>APIs</a:t>
            </a:r>
            <a:endParaRPr sz="1400">
              <a:latin typeface="Arial MT"/>
              <a:cs typeface="Arial MT"/>
            </a:endParaRPr>
          </a:p>
          <a:p>
            <a:pPr marL="123825" indent="-111125">
              <a:lnSpc>
                <a:spcPct val="100000"/>
              </a:lnSpc>
              <a:spcBef>
                <a:spcPts val="615"/>
              </a:spcBef>
              <a:buChar char="•"/>
              <a:tabLst>
                <a:tab pos="123825" algn="l"/>
              </a:tabLst>
            </a:pP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Require</a:t>
            </a:r>
            <a:r>
              <a:rPr dirty="0" sz="1400" spc="-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large</a:t>
            </a:r>
            <a:r>
              <a:rPr dirty="0" sz="1400" spc="-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computational</a:t>
            </a:r>
            <a:r>
              <a:rPr dirty="0" sz="1400" spc="-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resources</a:t>
            </a:r>
            <a:endParaRPr sz="1400">
              <a:latin typeface="Arial MT"/>
              <a:cs typeface="Arial MT"/>
            </a:endParaRPr>
          </a:p>
          <a:p>
            <a:pPr marL="123825" indent="-111125">
              <a:lnSpc>
                <a:spcPct val="100000"/>
              </a:lnSpc>
              <a:spcBef>
                <a:spcPts val="615"/>
              </a:spcBef>
              <a:buChar char="•"/>
              <a:tabLst>
                <a:tab pos="123825" algn="l"/>
              </a:tabLst>
            </a:pP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Focus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mainly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on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conversation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rather</a:t>
            </a:r>
            <a:r>
              <a:rPr dirty="0" sz="1400" spc="-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than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practical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 spc="-20">
                <a:solidFill>
                  <a:srgbClr val="111111"/>
                </a:solidFill>
                <a:latin typeface="Arial MT"/>
                <a:cs typeface="Arial MT"/>
              </a:rPr>
              <a:t>help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9784" rIns="0" bIns="0" rtlCol="0" vert="horz">
            <a:spAutoFit/>
          </a:bodyPr>
          <a:lstStyle/>
          <a:p>
            <a:pPr marL="3923665">
              <a:lnSpc>
                <a:spcPct val="100000"/>
              </a:lnSpc>
              <a:spcBef>
                <a:spcPts val="90"/>
              </a:spcBef>
            </a:pPr>
            <a:r>
              <a:rPr dirty="0" spc="-10"/>
              <a:t>Problem</a:t>
            </a:r>
            <a:r>
              <a:rPr dirty="0" spc="-90"/>
              <a:t> </a:t>
            </a:r>
            <a:r>
              <a:rPr dirty="0" spc="-10"/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05136" y="1232540"/>
            <a:ext cx="3342640" cy="2284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111111"/>
                </a:solidFill>
                <a:latin typeface="Arial"/>
                <a:cs typeface="Arial"/>
              </a:rPr>
              <a:t>Proposed</a:t>
            </a:r>
            <a:r>
              <a:rPr dirty="0" sz="1400" spc="-4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111111"/>
                </a:solidFill>
                <a:latin typeface="Arial"/>
                <a:cs typeface="Arial"/>
              </a:rPr>
              <a:t>Solution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00"/>
              </a:spcBef>
            </a:pP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Develop</a:t>
            </a:r>
            <a:r>
              <a:rPr dirty="0" sz="1400" spc="4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a</a:t>
            </a:r>
            <a:r>
              <a:rPr dirty="0" sz="1400" spc="4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lightweight</a:t>
            </a:r>
            <a:r>
              <a:rPr dirty="0" sz="1400" spc="4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AI</a:t>
            </a:r>
            <a:r>
              <a:rPr dirty="0" sz="1400" spc="4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chatbot</a:t>
            </a:r>
            <a:r>
              <a:rPr dirty="0" sz="1400" spc="5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that: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35"/>
              </a:spcBef>
            </a:pPr>
            <a:endParaRPr sz="1400">
              <a:latin typeface="Arial MT"/>
              <a:cs typeface="Arial MT"/>
            </a:endParaRPr>
          </a:p>
          <a:p>
            <a:pPr marL="123825" indent="-111125">
              <a:lnSpc>
                <a:spcPct val="100000"/>
              </a:lnSpc>
              <a:spcBef>
                <a:spcPts val="5"/>
              </a:spcBef>
              <a:buChar char="•"/>
              <a:tabLst>
                <a:tab pos="123825" algn="l"/>
              </a:tabLst>
            </a:pP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Detects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emotions</a:t>
            </a:r>
            <a:r>
              <a:rPr dirty="0" sz="1400" spc="-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from</a:t>
            </a:r>
            <a:r>
              <a:rPr dirty="0" sz="1400" spc="-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user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 spc="-20">
                <a:solidFill>
                  <a:srgbClr val="111111"/>
                </a:solidFill>
                <a:latin typeface="Arial MT"/>
                <a:cs typeface="Arial MT"/>
              </a:rPr>
              <a:t>text</a:t>
            </a:r>
            <a:endParaRPr sz="1400">
              <a:latin typeface="Arial MT"/>
              <a:cs typeface="Arial MT"/>
            </a:endParaRPr>
          </a:p>
          <a:p>
            <a:pPr marL="123825" indent="-111125">
              <a:lnSpc>
                <a:spcPct val="100000"/>
              </a:lnSpc>
              <a:spcBef>
                <a:spcPts val="615"/>
              </a:spcBef>
              <a:buChar char="•"/>
              <a:tabLst>
                <a:tab pos="123825" algn="l"/>
              </a:tabLst>
            </a:pP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Provides</a:t>
            </a:r>
            <a:r>
              <a:rPr dirty="0" sz="1400" spc="-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instant</a:t>
            </a:r>
            <a:r>
              <a:rPr dirty="0" sz="1400" spc="-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coping</a:t>
            </a:r>
            <a:r>
              <a:rPr dirty="0" sz="1400" spc="-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suggestions</a:t>
            </a:r>
            <a:endParaRPr sz="1400">
              <a:latin typeface="Arial MT"/>
              <a:cs typeface="Arial MT"/>
            </a:endParaRPr>
          </a:p>
          <a:p>
            <a:pPr marL="123825" indent="-111125">
              <a:lnSpc>
                <a:spcPct val="100000"/>
              </a:lnSpc>
              <a:spcBef>
                <a:spcPts val="615"/>
              </a:spcBef>
              <a:buChar char="•"/>
              <a:tabLst>
                <a:tab pos="123825" algn="l"/>
              </a:tabLst>
            </a:pP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Works</a:t>
            </a:r>
            <a:r>
              <a:rPr dirty="0" sz="1400" spc="-2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without</a:t>
            </a:r>
            <a:r>
              <a:rPr dirty="0" sz="1400" spc="-2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external</a:t>
            </a:r>
            <a:r>
              <a:rPr dirty="0" sz="1400" spc="-9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AI</a:t>
            </a:r>
            <a:r>
              <a:rPr dirty="0" sz="1400" spc="-9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 spc="-20">
                <a:solidFill>
                  <a:srgbClr val="111111"/>
                </a:solidFill>
                <a:latin typeface="Arial MT"/>
                <a:cs typeface="Arial MT"/>
              </a:rPr>
              <a:t>APIs</a:t>
            </a:r>
            <a:endParaRPr sz="1400">
              <a:latin typeface="Arial MT"/>
              <a:cs typeface="Arial MT"/>
            </a:endParaRPr>
          </a:p>
          <a:p>
            <a:pPr marL="123825" indent="-111125">
              <a:lnSpc>
                <a:spcPct val="100000"/>
              </a:lnSpc>
              <a:spcBef>
                <a:spcPts val="615"/>
              </a:spcBef>
              <a:buChar char="•"/>
              <a:tabLst>
                <a:tab pos="123825" algn="l"/>
              </a:tabLst>
            </a:pP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Operates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with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a</a:t>
            </a:r>
            <a:r>
              <a:rPr dirty="0" sz="1400" spc="-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locally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trained</a:t>
            </a:r>
            <a:r>
              <a:rPr dirty="0" sz="1400" spc="-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ML</a:t>
            </a:r>
            <a:r>
              <a:rPr dirty="0" sz="1400" spc="-6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 spc="-20">
                <a:solidFill>
                  <a:srgbClr val="111111"/>
                </a:solidFill>
                <a:latin typeface="Arial MT"/>
                <a:cs typeface="Arial MT"/>
              </a:rPr>
              <a:t>model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9784" rIns="0" bIns="0" rtlCol="0" vert="horz">
            <a:spAutoFit/>
          </a:bodyPr>
          <a:lstStyle/>
          <a:p>
            <a:pPr marL="4020185">
              <a:lnSpc>
                <a:spcPct val="100000"/>
              </a:lnSpc>
              <a:spcBef>
                <a:spcPts val="90"/>
              </a:spcBef>
            </a:pPr>
            <a:r>
              <a:rPr dirty="0" spc="-10"/>
              <a:t>Literature</a:t>
            </a:r>
            <a:r>
              <a:rPr dirty="0" spc="-125"/>
              <a:t> </a:t>
            </a:r>
            <a:r>
              <a:rPr dirty="0" spc="-10"/>
              <a:t>Review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4173" y="1032978"/>
            <a:ext cx="5375275" cy="3195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111111"/>
                </a:solidFill>
                <a:latin typeface="Arial"/>
                <a:cs typeface="Arial"/>
              </a:rPr>
              <a:t>Areas</a:t>
            </a:r>
            <a:r>
              <a:rPr dirty="0" sz="1500" spc="-4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111111"/>
                </a:solidFill>
                <a:latin typeface="Arial"/>
                <a:cs typeface="Arial"/>
              </a:rPr>
              <a:t>Studied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20"/>
              </a:spcBef>
            </a:pPr>
            <a:endParaRPr sz="1500">
              <a:latin typeface="Arial"/>
              <a:cs typeface="Arial"/>
            </a:endParaRPr>
          </a:p>
          <a:p>
            <a:pPr marL="123825" indent="-111125">
              <a:lnSpc>
                <a:spcPct val="100000"/>
              </a:lnSpc>
              <a:buChar char="•"/>
              <a:tabLst>
                <a:tab pos="123825" algn="l"/>
              </a:tabLst>
            </a:pP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Emotion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detection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using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Natural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Language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 Processing</a:t>
            </a:r>
            <a:endParaRPr sz="1400">
              <a:latin typeface="Arial MT"/>
              <a:cs typeface="Arial MT"/>
            </a:endParaRPr>
          </a:p>
          <a:p>
            <a:pPr marL="123825" indent="-111125">
              <a:lnSpc>
                <a:spcPct val="100000"/>
              </a:lnSpc>
              <a:spcBef>
                <a:spcPts val="615"/>
              </a:spcBef>
              <a:buChar char="•"/>
              <a:tabLst>
                <a:tab pos="123825" algn="l"/>
              </a:tabLst>
            </a:pP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Mental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health</a:t>
            </a:r>
            <a:r>
              <a:rPr dirty="0" sz="1400" spc="-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support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 chatbots</a:t>
            </a:r>
            <a:endParaRPr sz="1400">
              <a:latin typeface="Arial MT"/>
              <a:cs typeface="Arial MT"/>
            </a:endParaRPr>
          </a:p>
          <a:p>
            <a:pPr marL="123825" indent="-111125">
              <a:lnSpc>
                <a:spcPct val="100000"/>
              </a:lnSpc>
              <a:spcBef>
                <a:spcPts val="615"/>
              </a:spcBef>
              <a:buChar char="•"/>
              <a:tabLst>
                <a:tab pos="123825" algn="l"/>
              </a:tabLst>
            </a:pP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Lightweight</a:t>
            </a:r>
            <a:r>
              <a:rPr dirty="0" sz="1400" spc="-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machine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learning</a:t>
            </a:r>
            <a:r>
              <a:rPr dirty="0" sz="1400" spc="-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models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for</a:t>
            </a:r>
            <a:r>
              <a:rPr dirty="0" sz="1400" spc="-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text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 classification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80"/>
              </a:spcBef>
              <a:buClr>
                <a:srgbClr val="111111"/>
              </a:buClr>
              <a:buFont typeface="Arial MT"/>
              <a:buChar char="•"/>
            </a:pP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500" b="1">
                <a:solidFill>
                  <a:srgbClr val="111111"/>
                </a:solidFill>
                <a:latin typeface="Arial"/>
                <a:cs typeface="Arial"/>
              </a:rPr>
              <a:t>Key</a:t>
            </a:r>
            <a:r>
              <a:rPr dirty="0" sz="1500" spc="-3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111111"/>
                </a:solidFill>
                <a:latin typeface="Arial"/>
                <a:cs typeface="Arial"/>
              </a:rPr>
              <a:t>Observations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20"/>
              </a:spcBef>
            </a:pPr>
            <a:endParaRPr sz="1500">
              <a:latin typeface="Arial"/>
              <a:cs typeface="Arial"/>
            </a:endParaRPr>
          </a:p>
          <a:p>
            <a:pPr marL="123825" indent="-111125">
              <a:lnSpc>
                <a:spcPct val="100000"/>
              </a:lnSpc>
              <a:buChar char="•"/>
              <a:tabLst>
                <a:tab pos="123825" algn="l"/>
              </a:tabLst>
            </a:pP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Many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chatbots</a:t>
            </a:r>
            <a:r>
              <a:rPr dirty="0" sz="1400" spc="-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rely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on</a:t>
            </a:r>
            <a:r>
              <a:rPr dirty="0" sz="1400" spc="-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large</a:t>
            </a:r>
            <a:r>
              <a:rPr dirty="0" sz="1400" spc="-8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AI</a:t>
            </a:r>
            <a:r>
              <a:rPr dirty="0" sz="1400" spc="-8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 spc="-20">
                <a:solidFill>
                  <a:srgbClr val="111111"/>
                </a:solidFill>
                <a:latin typeface="Arial MT"/>
                <a:cs typeface="Arial MT"/>
              </a:rPr>
              <a:t>APIs</a:t>
            </a:r>
            <a:endParaRPr sz="1400">
              <a:latin typeface="Arial MT"/>
              <a:cs typeface="Arial MT"/>
            </a:endParaRPr>
          </a:p>
          <a:p>
            <a:pPr marL="123825" indent="-111125">
              <a:lnSpc>
                <a:spcPct val="100000"/>
              </a:lnSpc>
              <a:spcBef>
                <a:spcPts val="615"/>
              </a:spcBef>
              <a:buChar char="•"/>
              <a:tabLst>
                <a:tab pos="123825" algn="l"/>
              </a:tabLst>
            </a:pP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Emotion detection commonly</a:t>
            </a:r>
            <a:r>
              <a:rPr dirty="0" sz="1400" spc="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uses </a:t>
            </a:r>
            <a:r>
              <a:rPr dirty="0" sz="1400" spc="-30">
                <a:solidFill>
                  <a:srgbClr val="111111"/>
                </a:solidFill>
                <a:latin typeface="Arial MT"/>
                <a:cs typeface="Arial MT"/>
              </a:rPr>
              <a:t>TF-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IDF</a:t>
            </a:r>
            <a:r>
              <a:rPr dirty="0" sz="1400" spc="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based ML 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models</a:t>
            </a:r>
            <a:endParaRPr sz="1400">
              <a:latin typeface="Arial MT"/>
              <a:cs typeface="Arial MT"/>
            </a:endParaRPr>
          </a:p>
          <a:p>
            <a:pPr marL="123825" indent="-111125">
              <a:lnSpc>
                <a:spcPct val="100000"/>
              </a:lnSpc>
              <a:spcBef>
                <a:spcPts val="655"/>
              </a:spcBef>
              <a:buChar char="•"/>
              <a:tabLst>
                <a:tab pos="123825" algn="l"/>
              </a:tabLst>
            </a:pP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Most</a:t>
            </a:r>
            <a:r>
              <a:rPr dirty="0" sz="1400" spc="-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systems</a:t>
            </a:r>
            <a:r>
              <a:rPr dirty="0" sz="1400" spc="-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focus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on</a:t>
            </a:r>
            <a:r>
              <a:rPr dirty="0" sz="1400" spc="-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conversation</a:t>
            </a:r>
            <a:r>
              <a:rPr dirty="0" sz="1400" spc="-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rather</a:t>
            </a:r>
            <a:r>
              <a:rPr dirty="0" sz="1400" spc="-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than</a:t>
            </a:r>
            <a:r>
              <a:rPr dirty="0" sz="1400" spc="-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practical</a:t>
            </a:r>
            <a:r>
              <a:rPr dirty="0" sz="1400" spc="-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solutions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9784" rIns="0" bIns="0" rtlCol="0" vert="horz">
            <a:spAutoFit/>
          </a:bodyPr>
          <a:lstStyle/>
          <a:p>
            <a:pPr marL="4020185">
              <a:lnSpc>
                <a:spcPct val="100000"/>
              </a:lnSpc>
              <a:spcBef>
                <a:spcPts val="90"/>
              </a:spcBef>
            </a:pPr>
            <a:r>
              <a:rPr dirty="0" spc="-10"/>
              <a:t>Literature</a:t>
            </a:r>
            <a:r>
              <a:rPr dirty="0" spc="-125"/>
              <a:t> </a:t>
            </a:r>
            <a:r>
              <a:rPr dirty="0" spc="-10"/>
              <a:t>Review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4173" y="1032978"/>
            <a:ext cx="6182995" cy="2012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solidFill>
                  <a:srgbClr val="111111"/>
                </a:solidFill>
                <a:latin typeface="Arial"/>
                <a:cs typeface="Arial"/>
              </a:rPr>
              <a:t>Conclusion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20"/>
              </a:spcBef>
            </a:pP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A</a:t>
            </a:r>
            <a:r>
              <a:rPr dirty="0" sz="1400" spc="-7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hybrid</a:t>
            </a:r>
            <a:r>
              <a:rPr dirty="0" sz="1400" spc="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approach</a:t>
            </a:r>
            <a:r>
              <a:rPr dirty="0" sz="1400" spc="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(Machine</a:t>
            </a:r>
            <a:r>
              <a:rPr dirty="0" sz="1400" spc="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Learning</a:t>
            </a:r>
            <a:r>
              <a:rPr dirty="0" sz="1400" spc="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+</a:t>
            </a:r>
            <a:r>
              <a:rPr dirty="0" sz="1400" spc="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Rule-based</a:t>
            </a:r>
            <a:r>
              <a:rPr dirty="0" sz="1400" spc="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responses)</a:t>
            </a:r>
            <a:r>
              <a:rPr dirty="0" sz="1400" spc="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is</a:t>
            </a:r>
            <a:r>
              <a:rPr dirty="0" sz="1400" spc="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suitable</a:t>
            </a:r>
            <a:r>
              <a:rPr dirty="0" sz="1400" spc="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 spc="-20">
                <a:solidFill>
                  <a:srgbClr val="111111"/>
                </a:solidFill>
                <a:latin typeface="Arial MT"/>
                <a:cs typeface="Arial MT"/>
              </a:rPr>
              <a:t>for: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40"/>
              </a:spcBef>
            </a:pPr>
            <a:endParaRPr sz="1400">
              <a:latin typeface="Arial MT"/>
              <a:cs typeface="Arial MT"/>
            </a:endParaRPr>
          </a:p>
          <a:p>
            <a:pPr marL="123825" indent="-111125">
              <a:lnSpc>
                <a:spcPct val="100000"/>
              </a:lnSpc>
              <a:buChar char="•"/>
              <a:tabLst>
                <a:tab pos="123825" algn="l"/>
              </a:tabLst>
            </a:pP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Faster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 response</a:t>
            </a:r>
            <a:endParaRPr sz="1400">
              <a:latin typeface="Arial MT"/>
              <a:cs typeface="Arial MT"/>
            </a:endParaRPr>
          </a:p>
          <a:p>
            <a:pPr marL="123825" indent="-111125">
              <a:lnSpc>
                <a:spcPct val="100000"/>
              </a:lnSpc>
              <a:spcBef>
                <a:spcPts val="615"/>
              </a:spcBef>
              <a:buChar char="•"/>
              <a:tabLst>
                <a:tab pos="123825" algn="l"/>
              </a:tabLst>
            </a:pP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Offline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 capability</a:t>
            </a:r>
            <a:endParaRPr sz="1400">
              <a:latin typeface="Arial MT"/>
              <a:cs typeface="Arial MT"/>
            </a:endParaRPr>
          </a:p>
          <a:p>
            <a:pPr marL="123825" indent="-111125">
              <a:lnSpc>
                <a:spcPct val="100000"/>
              </a:lnSpc>
              <a:spcBef>
                <a:spcPts val="615"/>
              </a:spcBef>
              <a:buChar char="•"/>
              <a:tabLst>
                <a:tab pos="123825" algn="l"/>
              </a:tabLst>
            </a:pP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Simpler</a:t>
            </a:r>
            <a:r>
              <a:rPr dirty="0" sz="1400" spc="-2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system</a:t>
            </a:r>
            <a:r>
              <a:rPr dirty="0" sz="1400" spc="-2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implementation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9784" rIns="0" bIns="0" rtlCol="0" vert="horz">
            <a:spAutoFit/>
          </a:bodyPr>
          <a:lstStyle/>
          <a:p>
            <a:pPr marL="4237355">
              <a:lnSpc>
                <a:spcPct val="100000"/>
              </a:lnSpc>
              <a:spcBef>
                <a:spcPts val="90"/>
              </a:spcBef>
            </a:pPr>
            <a:r>
              <a:rPr dirty="0"/>
              <a:t>Module</a:t>
            </a:r>
            <a:r>
              <a:rPr dirty="0" spc="-110"/>
              <a:t> </a:t>
            </a:r>
            <a:r>
              <a:rPr dirty="0" spc="-10"/>
              <a:t>Design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1540" y="1162403"/>
            <a:ext cx="3912235" cy="3579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111111"/>
                </a:solidFill>
                <a:latin typeface="Arial"/>
                <a:cs typeface="Arial"/>
              </a:rPr>
              <a:t>Module</a:t>
            </a:r>
            <a:r>
              <a:rPr dirty="0" sz="1500" spc="-2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111111"/>
                </a:solidFill>
                <a:latin typeface="Arial"/>
                <a:cs typeface="Arial"/>
              </a:rPr>
              <a:t>1</a:t>
            </a:r>
            <a:r>
              <a:rPr dirty="0" sz="1500" spc="-2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111111"/>
                </a:solidFill>
                <a:latin typeface="Arial"/>
                <a:cs typeface="Arial"/>
              </a:rPr>
              <a:t>—</a:t>
            </a:r>
            <a:r>
              <a:rPr dirty="0" sz="1500" spc="-2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111111"/>
                </a:solidFill>
                <a:latin typeface="Arial"/>
                <a:cs typeface="Arial"/>
              </a:rPr>
              <a:t>User</a:t>
            </a:r>
            <a:r>
              <a:rPr dirty="0" sz="1500" spc="-2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111111"/>
                </a:solidFill>
                <a:latin typeface="Arial"/>
                <a:cs typeface="Arial"/>
              </a:rPr>
              <a:t>Interface</a:t>
            </a:r>
            <a:r>
              <a:rPr dirty="0" sz="1500" spc="-2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111111"/>
                </a:solidFill>
                <a:latin typeface="Arial"/>
                <a:cs typeface="Arial"/>
              </a:rPr>
              <a:t>(Frontend)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20"/>
              </a:spcBef>
            </a:pPr>
            <a:endParaRPr sz="1500">
              <a:latin typeface="Arial"/>
              <a:cs typeface="Arial"/>
            </a:endParaRPr>
          </a:p>
          <a:p>
            <a:pPr marL="123825" indent="-111125">
              <a:lnSpc>
                <a:spcPct val="100000"/>
              </a:lnSpc>
              <a:buChar char="•"/>
              <a:tabLst>
                <a:tab pos="123825" algn="l"/>
              </a:tabLst>
            </a:pP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Built</a:t>
            </a:r>
            <a:r>
              <a:rPr dirty="0" sz="1400" spc="-3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using</a:t>
            </a:r>
            <a:r>
              <a:rPr dirty="0" sz="1400" spc="-2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HTML,</a:t>
            </a:r>
            <a:r>
              <a:rPr dirty="0" sz="1400" spc="-2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CSS,</a:t>
            </a:r>
            <a:r>
              <a:rPr dirty="0" sz="1400" spc="-2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JavaScript</a:t>
            </a:r>
            <a:endParaRPr sz="1400">
              <a:latin typeface="Arial MT"/>
              <a:cs typeface="Arial MT"/>
            </a:endParaRPr>
          </a:p>
          <a:p>
            <a:pPr marL="123825" indent="-111125">
              <a:lnSpc>
                <a:spcPct val="100000"/>
              </a:lnSpc>
              <a:spcBef>
                <a:spcPts val="655"/>
              </a:spcBef>
              <a:buChar char="•"/>
              <a:tabLst>
                <a:tab pos="123825" algn="l"/>
              </a:tabLst>
            </a:pP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Provides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login</a:t>
            </a:r>
            <a:r>
              <a:rPr dirty="0" sz="1400" spc="-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system</a:t>
            </a:r>
            <a:r>
              <a:rPr dirty="0" sz="1400" spc="-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and</a:t>
            </a:r>
            <a:r>
              <a:rPr dirty="0" sz="1400" spc="-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chat</a:t>
            </a:r>
            <a:r>
              <a:rPr dirty="0" sz="1400" spc="-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interface</a:t>
            </a:r>
            <a:endParaRPr sz="1400">
              <a:latin typeface="Arial MT"/>
              <a:cs typeface="Arial MT"/>
            </a:endParaRPr>
          </a:p>
          <a:p>
            <a:pPr marL="123825" indent="-111125">
              <a:lnSpc>
                <a:spcPct val="100000"/>
              </a:lnSpc>
              <a:spcBef>
                <a:spcPts val="615"/>
              </a:spcBef>
              <a:buChar char="•"/>
              <a:tabLst>
                <a:tab pos="123825" algn="l"/>
              </a:tabLst>
            </a:pP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Displays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user</a:t>
            </a:r>
            <a:r>
              <a:rPr dirty="0" sz="1400" spc="-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messages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and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chatbot</a:t>
            </a:r>
            <a:r>
              <a:rPr dirty="0" sz="1400" spc="-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responses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Clr>
                <a:srgbClr val="111111"/>
              </a:buClr>
              <a:buFont typeface="Arial MT"/>
              <a:buChar char="•"/>
            </a:pP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5"/>
              </a:spcBef>
              <a:buClr>
                <a:srgbClr val="111111"/>
              </a:buClr>
              <a:buFont typeface="Arial MT"/>
              <a:buChar char="•"/>
            </a:pP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500" b="1">
                <a:solidFill>
                  <a:srgbClr val="111111"/>
                </a:solidFill>
                <a:latin typeface="Arial"/>
                <a:cs typeface="Arial"/>
              </a:rPr>
              <a:t>Module</a:t>
            </a:r>
            <a:r>
              <a:rPr dirty="0" sz="1500" spc="-2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111111"/>
                </a:solidFill>
                <a:latin typeface="Arial"/>
                <a:cs typeface="Arial"/>
              </a:rPr>
              <a:t>2</a:t>
            </a:r>
            <a:r>
              <a:rPr dirty="0" sz="1500" spc="-2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111111"/>
                </a:solidFill>
                <a:latin typeface="Arial"/>
                <a:cs typeface="Arial"/>
              </a:rPr>
              <a:t>—</a:t>
            </a:r>
            <a:r>
              <a:rPr dirty="0" sz="1500" spc="-2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111111"/>
                </a:solidFill>
                <a:latin typeface="Arial"/>
                <a:cs typeface="Arial"/>
              </a:rPr>
              <a:t>Backend</a:t>
            </a:r>
            <a:r>
              <a:rPr dirty="0" sz="1500" spc="-2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111111"/>
                </a:solidFill>
                <a:latin typeface="Arial"/>
                <a:cs typeface="Arial"/>
              </a:rPr>
              <a:t>Server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20"/>
              </a:spcBef>
            </a:pPr>
            <a:endParaRPr sz="1500">
              <a:latin typeface="Arial"/>
              <a:cs typeface="Arial"/>
            </a:endParaRPr>
          </a:p>
          <a:p>
            <a:pPr marL="123825" indent="-111125">
              <a:lnSpc>
                <a:spcPct val="100000"/>
              </a:lnSpc>
              <a:buChar char="•"/>
              <a:tabLst>
                <a:tab pos="123825" algn="l"/>
              </a:tabLst>
            </a:pP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Built</a:t>
            </a:r>
            <a:r>
              <a:rPr dirty="0" sz="1400" spc="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using</a:t>
            </a:r>
            <a:r>
              <a:rPr dirty="0" sz="1400" spc="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Node.js</a:t>
            </a:r>
            <a:r>
              <a:rPr dirty="0" sz="1400" spc="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and</a:t>
            </a:r>
            <a:r>
              <a:rPr dirty="0" sz="1400" spc="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Express.js</a:t>
            </a:r>
            <a:endParaRPr sz="1400">
              <a:latin typeface="Arial MT"/>
              <a:cs typeface="Arial MT"/>
            </a:endParaRPr>
          </a:p>
          <a:p>
            <a:pPr marL="123825" indent="-111125">
              <a:lnSpc>
                <a:spcPct val="100000"/>
              </a:lnSpc>
              <a:spcBef>
                <a:spcPts val="655"/>
              </a:spcBef>
              <a:buChar char="•"/>
              <a:tabLst>
                <a:tab pos="123825" algn="l"/>
              </a:tabLst>
            </a:pP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Handles</a:t>
            </a:r>
            <a:r>
              <a:rPr dirty="0" sz="1400" spc="-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authentication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 (/login)</a:t>
            </a:r>
            <a:endParaRPr sz="1400">
              <a:latin typeface="Arial MT"/>
              <a:cs typeface="Arial MT"/>
            </a:endParaRPr>
          </a:p>
          <a:p>
            <a:pPr marL="123825" indent="-111125">
              <a:lnSpc>
                <a:spcPct val="100000"/>
              </a:lnSpc>
              <a:spcBef>
                <a:spcPts val="615"/>
              </a:spcBef>
              <a:buChar char="•"/>
              <a:tabLst>
                <a:tab pos="123825" algn="l"/>
              </a:tabLst>
            </a:pP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Processes</a:t>
            </a:r>
            <a:r>
              <a:rPr dirty="0" sz="1400" spc="-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chat</a:t>
            </a:r>
            <a:r>
              <a:rPr dirty="0" sz="1400" spc="-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requests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 (/chat)</a:t>
            </a:r>
            <a:endParaRPr sz="1400">
              <a:latin typeface="Arial MT"/>
              <a:cs typeface="Arial MT"/>
            </a:endParaRPr>
          </a:p>
          <a:p>
            <a:pPr marL="123825" indent="-111125">
              <a:lnSpc>
                <a:spcPct val="100000"/>
              </a:lnSpc>
              <a:spcBef>
                <a:spcPts val="615"/>
              </a:spcBef>
              <a:buChar char="•"/>
              <a:tabLst>
                <a:tab pos="123825" algn="l"/>
              </a:tabLst>
            </a:pP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Connects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frontend</a:t>
            </a:r>
            <a:r>
              <a:rPr dirty="0" sz="1400" spc="-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with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the</a:t>
            </a:r>
            <a:r>
              <a:rPr dirty="0" sz="1400" spc="-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ML</a:t>
            </a:r>
            <a:r>
              <a:rPr dirty="0" sz="1400" spc="-6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 spc="-20">
                <a:solidFill>
                  <a:srgbClr val="111111"/>
                </a:solidFill>
                <a:latin typeface="Arial MT"/>
                <a:cs typeface="Arial MT"/>
              </a:rPr>
              <a:t>model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9784" rIns="0" bIns="0" rtlCol="0" vert="horz">
            <a:spAutoFit/>
          </a:bodyPr>
          <a:lstStyle/>
          <a:p>
            <a:pPr marL="4237355">
              <a:lnSpc>
                <a:spcPct val="100000"/>
              </a:lnSpc>
              <a:spcBef>
                <a:spcPts val="90"/>
              </a:spcBef>
            </a:pPr>
            <a:r>
              <a:rPr dirty="0"/>
              <a:t>Module</a:t>
            </a:r>
            <a:r>
              <a:rPr dirty="0" spc="-110"/>
              <a:t> </a:t>
            </a:r>
            <a:r>
              <a:rPr dirty="0" spc="-10"/>
              <a:t>Design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1540" y="1051728"/>
            <a:ext cx="4301490" cy="37331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111111"/>
                </a:solidFill>
                <a:latin typeface="Arial"/>
                <a:cs typeface="Arial"/>
              </a:rPr>
              <a:t>Module</a:t>
            </a:r>
            <a:r>
              <a:rPr dirty="0" sz="1500" spc="-2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111111"/>
                </a:solidFill>
                <a:latin typeface="Arial"/>
                <a:cs typeface="Arial"/>
              </a:rPr>
              <a:t>3</a:t>
            </a:r>
            <a:r>
              <a:rPr dirty="0" sz="1500" spc="-2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111111"/>
                </a:solidFill>
                <a:latin typeface="Arial"/>
                <a:cs typeface="Arial"/>
              </a:rPr>
              <a:t>—</a:t>
            </a:r>
            <a:r>
              <a:rPr dirty="0" sz="1500" spc="-2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111111"/>
                </a:solidFill>
                <a:latin typeface="Arial"/>
                <a:cs typeface="Arial"/>
              </a:rPr>
              <a:t>Emotion</a:t>
            </a:r>
            <a:r>
              <a:rPr dirty="0" sz="1500" spc="-2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111111"/>
                </a:solidFill>
                <a:latin typeface="Arial"/>
                <a:cs typeface="Arial"/>
              </a:rPr>
              <a:t>Detection</a:t>
            </a:r>
            <a:r>
              <a:rPr dirty="0" sz="1500" spc="-3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111111"/>
                </a:solidFill>
                <a:latin typeface="Arial"/>
                <a:cs typeface="Arial"/>
              </a:rPr>
              <a:t>Model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20"/>
              </a:spcBef>
            </a:pPr>
            <a:endParaRPr sz="1500">
              <a:latin typeface="Arial"/>
              <a:cs typeface="Arial"/>
            </a:endParaRPr>
          </a:p>
          <a:p>
            <a:pPr marL="123825" indent="-111125">
              <a:lnSpc>
                <a:spcPct val="100000"/>
              </a:lnSpc>
              <a:buChar char="•"/>
              <a:tabLst>
                <a:tab pos="123825" algn="l"/>
              </a:tabLst>
            </a:pP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Implemented</a:t>
            </a:r>
            <a:r>
              <a:rPr dirty="0" sz="1400" spc="-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using</a:t>
            </a:r>
            <a:r>
              <a:rPr dirty="0" sz="1400" spc="-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Python</a:t>
            </a:r>
            <a:endParaRPr sz="1400">
              <a:latin typeface="Arial MT"/>
              <a:cs typeface="Arial MT"/>
            </a:endParaRPr>
          </a:p>
          <a:p>
            <a:pPr marL="123825" indent="-111125">
              <a:lnSpc>
                <a:spcPct val="100000"/>
              </a:lnSpc>
              <a:spcBef>
                <a:spcPts val="615"/>
              </a:spcBef>
              <a:buChar char="•"/>
              <a:tabLst>
                <a:tab pos="123825" algn="l"/>
              </a:tabLst>
            </a:pP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Uses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machine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learning</a:t>
            </a:r>
            <a:r>
              <a:rPr dirty="0" sz="1400" spc="-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for</a:t>
            </a:r>
            <a:r>
              <a:rPr dirty="0" sz="1400" spc="-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text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emotion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 classification</a:t>
            </a:r>
            <a:endParaRPr sz="1400">
              <a:latin typeface="Arial MT"/>
              <a:cs typeface="Arial MT"/>
            </a:endParaRPr>
          </a:p>
          <a:p>
            <a:pPr marL="152400" indent="-139700">
              <a:lnSpc>
                <a:spcPct val="100000"/>
              </a:lnSpc>
              <a:spcBef>
                <a:spcPts val="615"/>
              </a:spcBef>
              <a:buChar char="•"/>
              <a:tabLst>
                <a:tab pos="152400" algn="l"/>
              </a:tabLst>
            </a:pP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Predicts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emotion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+</a:t>
            </a:r>
            <a:r>
              <a:rPr dirty="0" sz="1400" spc="-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confidence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 spc="-20">
                <a:solidFill>
                  <a:srgbClr val="111111"/>
                </a:solidFill>
                <a:latin typeface="Arial MT"/>
                <a:cs typeface="Arial MT"/>
              </a:rPr>
              <a:t>score</a:t>
            </a:r>
            <a:endParaRPr sz="1400">
              <a:latin typeface="Arial MT"/>
              <a:cs typeface="Arial MT"/>
            </a:endParaRPr>
          </a:p>
          <a:p>
            <a:pPr marL="152400" indent="-139700">
              <a:lnSpc>
                <a:spcPct val="100000"/>
              </a:lnSpc>
              <a:spcBef>
                <a:spcPts val="615"/>
              </a:spcBef>
              <a:buChar char="•"/>
              <a:tabLst>
                <a:tab pos="152400" algn="l"/>
              </a:tabLst>
            </a:pP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Example:</a:t>
            </a:r>
            <a:r>
              <a:rPr dirty="0" sz="1400" spc="-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stress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|</a:t>
            </a:r>
            <a:r>
              <a:rPr dirty="0" sz="1400" spc="-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 spc="-20">
                <a:solidFill>
                  <a:srgbClr val="111111"/>
                </a:solidFill>
                <a:latin typeface="Arial MT"/>
                <a:cs typeface="Arial MT"/>
              </a:rPr>
              <a:t>0.72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94"/>
              </a:spcBef>
              <a:buClr>
                <a:srgbClr val="111111"/>
              </a:buClr>
              <a:buFont typeface="Arial MT"/>
              <a:buChar char="•"/>
            </a:pP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500" b="1">
                <a:solidFill>
                  <a:srgbClr val="111111"/>
                </a:solidFill>
                <a:latin typeface="Arial"/>
                <a:cs typeface="Arial"/>
              </a:rPr>
              <a:t>Module</a:t>
            </a:r>
            <a:r>
              <a:rPr dirty="0" sz="1500" spc="-2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111111"/>
                </a:solidFill>
                <a:latin typeface="Arial"/>
                <a:cs typeface="Arial"/>
              </a:rPr>
              <a:t>4</a:t>
            </a:r>
            <a:r>
              <a:rPr dirty="0" sz="1500" spc="-2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111111"/>
                </a:solidFill>
                <a:latin typeface="Arial"/>
                <a:cs typeface="Arial"/>
              </a:rPr>
              <a:t>—</a:t>
            </a:r>
            <a:r>
              <a:rPr dirty="0" sz="1500" spc="-2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111111"/>
                </a:solidFill>
                <a:latin typeface="Arial"/>
                <a:cs typeface="Arial"/>
              </a:rPr>
              <a:t>Response</a:t>
            </a:r>
            <a:r>
              <a:rPr dirty="0" sz="1500" spc="-2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111111"/>
                </a:solidFill>
                <a:latin typeface="Arial"/>
                <a:cs typeface="Arial"/>
              </a:rPr>
              <a:t>Engine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25"/>
              </a:spcBef>
            </a:pPr>
            <a:endParaRPr sz="1500">
              <a:latin typeface="Arial"/>
              <a:cs typeface="Arial"/>
            </a:endParaRPr>
          </a:p>
          <a:p>
            <a:pPr marL="123825" indent="-111125">
              <a:lnSpc>
                <a:spcPct val="100000"/>
              </a:lnSpc>
              <a:buChar char="•"/>
              <a:tabLst>
                <a:tab pos="123825" algn="l"/>
              </a:tabLst>
            </a:pP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Rule-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based</a:t>
            </a:r>
            <a:r>
              <a:rPr dirty="0" sz="1400" spc="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suggestion</a:t>
            </a:r>
            <a:r>
              <a:rPr dirty="0" sz="1400" spc="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system</a:t>
            </a:r>
            <a:endParaRPr sz="1400">
              <a:latin typeface="Arial MT"/>
              <a:cs typeface="Arial MT"/>
            </a:endParaRPr>
          </a:p>
          <a:p>
            <a:pPr marL="123825" indent="-111125">
              <a:lnSpc>
                <a:spcPct val="100000"/>
              </a:lnSpc>
              <a:spcBef>
                <a:spcPts val="640"/>
              </a:spcBef>
              <a:buChar char="•"/>
              <a:tabLst>
                <a:tab pos="123825" algn="l"/>
              </a:tabLst>
            </a:pP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Maps</a:t>
            </a:r>
            <a:r>
              <a:rPr dirty="0" sz="1400" spc="-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detected</a:t>
            </a:r>
            <a:r>
              <a:rPr dirty="0" sz="1400" spc="-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emotion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Microsoft Sans Serif"/>
                <a:cs typeface="Microsoft Sans Serif"/>
              </a:rPr>
              <a:t>→</a:t>
            </a:r>
            <a:r>
              <a:rPr dirty="0" sz="1400" spc="10">
                <a:solidFill>
                  <a:srgbClr val="111111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coping</a:t>
            </a:r>
            <a:r>
              <a:rPr dirty="0" sz="1400" spc="-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suggestions</a:t>
            </a:r>
            <a:endParaRPr sz="1400">
              <a:latin typeface="Arial MT"/>
              <a:cs typeface="Arial MT"/>
            </a:endParaRPr>
          </a:p>
          <a:p>
            <a:pPr marL="152400" indent="-139700">
              <a:lnSpc>
                <a:spcPct val="100000"/>
              </a:lnSpc>
              <a:spcBef>
                <a:spcPts val="625"/>
              </a:spcBef>
              <a:buChar char="•"/>
              <a:tabLst>
                <a:tab pos="152400" algn="l"/>
              </a:tabLst>
            </a:pP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Provides</a:t>
            </a:r>
            <a:r>
              <a:rPr dirty="0" sz="1400" spc="-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practical</a:t>
            </a:r>
            <a:r>
              <a:rPr dirty="0" sz="1400" spc="-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mental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health</a:t>
            </a:r>
            <a:r>
              <a:rPr dirty="0" sz="1400" spc="-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guidance</a:t>
            </a:r>
            <a:endParaRPr sz="1400">
              <a:latin typeface="Arial MT"/>
              <a:cs typeface="Arial MT"/>
            </a:endParaRPr>
          </a:p>
          <a:p>
            <a:pPr marL="152400" indent="-139700">
              <a:lnSpc>
                <a:spcPct val="100000"/>
              </a:lnSpc>
              <a:spcBef>
                <a:spcPts val="645"/>
              </a:spcBef>
              <a:buChar char="•"/>
              <a:tabLst>
                <a:tab pos="152400" algn="l"/>
              </a:tabLst>
            </a:pP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Example:</a:t>
            </a:r>
            <a:r>
              <a:rPr dirty="0" sz="1400" spc="-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Stress</a:t>
            </a:r>
            <a:r>
              <a:rPr dirty="0" sz="1400" spc="-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Microsoft Sans Serif"/>
                <a:cs typeface="Microsoft Sans Serif"/>
              </a:rPr>
              <a:t>→</a:t>
            </a:r>
            <a:r>
              <a:rPr dirty="0" sz="1400" spc="10">
                <a:solidFill>
                  <a:srgbClr val="111111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break</a:t>
            </a:r>
            <a:r>
              <a:rPr dirty="0" sz="1400" spc="-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tasks</a:t>
            </a:r>
            <a:r>
              <a:rPr dirty="0" sz="1400" spc="-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+</a:t>
            </a:r>
            <a:r>
              <a:rPr dirty="0" sz="1400" spc="-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short</a:t>
            </a:r>
            <a:r>
              <a:rPr dirty="0" sz="1400" spc="-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study</a:t>
            </a:r>
            <a:r>
              <a:rPr dirty="0" sz="1400" spc="-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breaks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9784" rIns="0" bIns="0" rtlCol="0" vert="horz">
            <a:spAutoFit/>
          </a:bodyPr>
          <a:lstStyle/>
          <a:p>
            <a:pPr marL="3859529">
              <a:lnSpc>
                <a:spcPct val="100000"/>
              </a:lnSpc>
              <a:spcBef>
                <a:spcPts val="90"/>
              </a:spcBef>
            </a:pPr>
            <a:r>
              <a:rPr dirty="0" spc="-10"/>
              <a:t>System</a:t>
            </a:r>
            <a:r>
              <a:rPr dirty="0" spc="-135"/>
              <a:t> </a:t>
            </a:r>
            <a:r>
              <a:rPr dirty="0" spc="-10"/>
              <a:t>Architecture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6099" y="1721577"/>
            <a:ext cx="10728802" cy="247200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073785">
              <a:lnSpc>
                <a:spcPct val="100000"/>
              </a:lnSpc>
              <a:spcBef>
                <a:spcPts val="100"/>
              </a:spcBef>
            </a:pPr>
            <a:r>
              <a:rPr dirty="0" sz="4400" spc="-60"/>
              <a:t>Tools</a:t>
            </a:r>
            <a:r>
              <a:rPr dirty="0" sz="4400" spc="-105"/>
              <a:t> </a:t>
            </a:r>
            <a:r>
              <a:rPr dirty="0" sz="4400"/>
              <a:t>And</a:t>
            </a:r>
            <a:r>
              <a:rPr dirty="0" sz="4400" spc="-85"/>
              <a:t> </a:t>
            </a:r>
            <a:r>
              <a:rPr dirty="0" sz="4400" spc="-35"/>
              <a:t>Technologies</a:t>
            </a:r>
            <a:r>
              <a:rPr dirty="0" sz="4400" spc="-80"/>
              <a:t> </a:t>
            </a:r>
            <a:r>
              <a:rPr dirty="0" sz="4400" spc="-170"/>
              <a:t>To</a:t>
            </a:r>
            <a:r>
              <a:rPr dirty="0" sz="4400" spc="-70"/>
              <a:t> </a:t>
            </a:r>
            <a:r>
              <a:rPr dirty="0" sz="4400"/>
              <a:t>Be</a:t>
            </a:r>
            <a:r>
              <a:rPr dirty="0" sz="4400" spc="-90"/>
              <a:t> </a:t>
            </a:r>
            <a:r>
              <a:rPr dirty="0" sz="4400" spc="-20"/>
              <a:t>Used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35982" y="1327174"/>
            <a:ext cx="5752465" cy="336422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solidFill>
                  <a:srgbClr val="111111"/>
                </a:solidFill>
                <a:latin typeface="Arial"/>
                <a:cs typeface="Arial"/>
              </a:rPr>
              <a:t>Frontend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20"/>
              </a:spcBef>
            </a:pPr>
            <a:endParaRPr sz="1500">
              <a:latin typeface="Arial"/>
              <a:cs typeface="Arial"/>
            </a:endParaRPr>
          </a:p>
          <a:p>
            <a:pPr marL="123825" indent="-111125">
              <a:lnSpc>
                <a:spcPct val="100000"/>
              </a:lnSpc>
              <a:buChar char="•"/>
              <a:tabLst>
                <a:tab pos="123825" algn="l"/>
              </a:tabLst>
            </a:pPr>
            <a:r>
              <a:rPr dirty="0" sz="1400" spc="-20">
                <a:solidFill>
                  <a:srgbClr val="111111"/>
                </a:solidFill>
                <a:latin typeface="Arial MT"/>
                <a:cs typeface="Arial MT"/>
              </a:rPr>
              <a:t>HTML</a:t>
            </a:r>
            <a:endParaRPr sz="1400">
              <a:latin typeface="Arial MT"/>
              <a:cs typeface="Arial MT"/>
            </a:endParaRPr>
          </a:p>
          <a:p>
            <a:pPr marL="123825" indent="-111125">
              <a:lnSpc>
                <a:spcPct val="100000"/>
              </a:lnSpc>
              <a:spcBef>
                <a:spcPts val="615"/>
              </a:spcBef>
              <a:buChar char="•"/>
              <a:tabLst>
                <a:tab pos="123825" algn="l"/>
              </a:tabLst>
            </a:pPr>
            <a:r>
              <a:rPr dirty="0" sz="1400" spc="-25">
                <a:solidFill>
                  <a:srgbClr val="111111"/>
                </a:solidFill>
                <a:latin typeface="Arial MT"/>
                <a:cs typeface="Arial MT"/>
              </a:rPr>
              <a:t>CSS</a:t>
            </a:r>
            <a:endParaRPr sz="1400">
              <a:latin typeface="Arial MT"/>
              <a:cs typeface="Arial MT"/>
            </a:endParaRPr>
          </a:p>
          <a:p>
            <a:pPr marL="123825" indent="-111125">
              <a:lnSpc>
                <a:spcPct val="100000"/>
              </a:lnSpc>
              <a:spcBef>
                <a:spcPts val="615"/>
              </a:spcBef>
              <a:buChar char="•"/>
              <a:tabLst>
                <a:tab pos="123825" algn="l"/>
              </a:tabLst>
            </a:pP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JavaScript</a:t>
            </a:r>
            <a:endParaRPr sz="1400">
              <a:latin typeface="Arial MT"/>
              <a:cs typeface="Arial MT"/>
            </a:endParaRPr>
          </a:p>
          <a:p>
            <a:pPr marL="152400" indent="-139700">
              <a:lnSpc>
                <a:spcPct val="100000"/>
              </a:lnSpc>
              <a:spcBef>
                <a:spcPts val="615"/>
              </a:spcBef>
              <a:buChar char="•"/>
              <a:tabLst>
                <a:tab pos="152400" algn="l"/>
              </a:tabLst>
            </a:pP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Used</a:t>
            </a:r>
            <a:r>
              <a:rPr dirty="0" sz="1400" spc="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to</a:t>
            </a:r>
            <a:r>
              <a:rPr dirty="0" sz="1400" spc="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create</a:t>
            </a:r>
            <a:r>
              <a:rPr dirty="0" sz="1400" spc="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the</a:t>
            </a:r>
            <a:r>
              <a:rPr dirty="0" sz="1400" spc="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chat</a:t>
            </a:r>
            <a:r>
              <a:rPr dirty="0" sz="1400" spc="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interface</a:t>
            </a:r>
            <a:r>
              <a:rPr dirty="0" sz="1400" spc="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and</a:t>
            </a:r>
            <a:r>
              <a:rPr dirty="0" sz="1400" spc="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user</a:t>
            </a:r>
            <a:r>
              <a:rPr dirty="0" sz="1400" spc="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interaction.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0"/>
              </a:spcBef>
              <a:buFont typeface="Arial MT"/>
              <a:buChar char="•"/>
            </a:pP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500" spc="-10" b="1">
                <a:solidFill>
                  <a:srgbClr val="111111"/>
                </a:solidFill>
                <a:latin typeface="Arial"/>
                <a:cs typeface="Arial"/>
              </a:rPr>
              <a:t>Backend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20"/>
              </a:spcBef>
            </a:pPr>
            <a:endParaRPr sz="1500">
              <a:latin typeface="Arial"/>
              <a:cs typeface="Arial"/>
            </a:endParaRPr>
          </a:p>
          <a:p>
            <a:pPr marL="123825" indent="-111125">
              <a:lnSpc>
                <a:spcPct val="100000"/>
              </a:lnSpc>
              <a:buChar char="•"/>
              <a:tabLst>
                <a:tab pos="123825" algn="l"/>
              </a:tabLst>
            </a:pP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Node.js</a:t>
            </a:r>
            <a:endParaRPr sz="1400">
              <a:latin typeface="Arial MT"/>
              <a:cs typeface="Arial MT"/>
            </a:endParaRPr>
          </a:p>
          <a:p>
            <a:pPr marL="123825" indent="-111125">
              <a:lnSpc>
                <a:spcPct val="100000"/>
              </a:lnSpc>
              <a:spcBef>
                <a:spcPts val="615"/>
              </a:spcBef>
              <a:buChar char="•"/>
              <a:tabLst>
                <a:tab pos="123825" algn="l"/>
              </a:tabLst>
            </a:pP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Express.js</a:t>
            </a:r>
            <a:endParaRPr sz="1400">
              <a:latin typeface="Arial MT"/>
              <a:cs typeface="Arial MT"/>
            </a:endParaRPr>
          </a:p>
          <a:p>
            <a:pPr marL="152400" indent="-139700">
              <a:lnSpc>
                <a:spcPct val="100000"/>
              </a:lnSpc>
              <a:spcBef>
                <a:spcPts val="615"/>
              </a:spcBef>
              <a:buChar char="•"/>
              <a:tabLst>
                <a:tab pos="152400" algn="l"/>
              </a:tabLst>
            </a:pP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Used</a:t>
            </a:r>
            <a:r>
              <a:rPr dirty="0" sz="1400" spc="3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to</a:t>
            </a:r>
            <a:r>
              <a:rPr dirty="0" sz="1400" spc="3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handle</a:t>
            </a:r>
            <a:r>
              <a:rPr dirty="0" sz="1400" spc="3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API</a:t>
            </a:r>
            <a:r>
              <a:rPr dirty="0" sz="1400" spc="3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requests</a:t>
            </a:r>
            <a:r>
              <a:rPr dirty="0" sz="1400" spc="3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and</a:t>
            </a:r>
            <a:r>
              <a:rPr dirty="0" sz="1400" spc="3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connect</a:t>
            </a:r>
            <a:r>
              <a:rPr dirty="0" sz="1400" spc="3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frontend</a:t>
            </a:r>
            <a:r>
              <a:rPr dirty="0" sz="1400" spc="3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with</a:t>
            </a:r>
            <a:r>
              <a:rPr dirty="0" sz="1400" spc="3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the</a:t>
            </a:r>
            <a:r>
              <a:rPr dirty="0" sz="1400" spc="3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ML</a:t>
            </a:r>
            <a:r>
              <a:rPr dirty="0" sz="1400" spc="3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model.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073785">
              <a:lnSpc>
                <a:spcPct val="100000"/>
              </a:lnSpc>
              <a:spcBef>
                <a:spcPts val="100"/>
              </a:spcBef>
            </a:pPr>
            <a:r>
              <a:rPr dirty="0" sz="4400" spc="-60"/>
              <a:t>Tools</a:t>
            </a:r>
            <a:r>
              <a:rPr dirty="0" sz="4400" spc="-105"/>
              <a:t> </a:t>
            </a:r>
            <a:r>
              <a:rPr dirty="0" sz="4400"/>
              <a:t>And</a:t>
            </a:r>
            <a:r>
              <a:rPr dirty="0" sz="4400" spc="-85"/>
              <a:t> </a:t>
            </a:r>
            <a:r>
              <a:rPr dirty="0" sz="4400" spc="-35"/>
              <a:t>Technologies</a:t>
            </a:r>
            <a:r>
              <a:rPr dirty="0" sz="4400" spc="-80"/>
              <a:t> </a:t>
            </a:r>
            <a:r>
              <a:rPr dirty="0" sz="4400" spc="-170"/>
              <a:t>To</a:t>
            </a:r>
            <a:r>
              <a:rPr dirty="0" sz="4400" spc="-70"/>
              <a:t> </a:t>
            </a:r>
            <a:r>
              <a:rPr dirty="0" sz="4400"/>
              <a:t>Be</a:t>
            </a:r>
            <a:r>
              <a:rPr dirty="0" sz="4400" spc="-90"/>
              <a:t> </a:t>
            </a:r>
            <a:r>
              <a:rPr dirty="0" sz="4400" spc="-20"/>
              <a:t>Used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35982" y="1327174"/>
            <a:ext cx="4248150" cy="35909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111111"/>
                </a:solidFill>
                <a:latin typeface="Arial"/>
                <a:cs typeface="Arial"/>
              </a:rPr>
              <a:t>Machine</a:t>
            </a:r>
            <a:r>
              <a:rPr dirty="0" sz="1500" spc="-5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111111"/>
                </a:solidFill>
                <a:latin typeface="Arial"/>
                <a:cs typeface="Arial"/>
              </a:rPr>
              <a:t>Learning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20"/>
              </a:spcBef>
            </a:pPr>
            <a:endParaRPr sz="1500">
              <a:latin typeface="Arial"/>
              <a:cs typeface="Arial"/>
            </a:endParaRPr>
          </a:p>
          <a:p>
            <a:pPr marL="123825" indent="-111125">
              <a:lnSpc>
                <a:spcPct val="100000"/>
              </a:lnSpc>
              <a:buChar char="•"/>
              <a:tabLst>
                <a:tab pos="123825" algn="l"/>
              </a:tabLst>
            </a:pP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Python</a:t>
            </a:r>
            <a:endParaRPr sz="1400">
              <a:latin typeface="Arial MT"/>
              <a:cs typeface="Arial MT"/>
            </a:endParaRPr>
          </a:p>
          <a:p>
            <a:pPr marL="123825" indent="-111125">
              <a:lnSpc>
                <a:spcPct val="100000"/>
              </a:lnSpc>
              <a:spcBef>
                <a:spcPts val="615"/>
              </a:spcBef>
              <a:buChar char="•"/>
              <a:tabLst>
                <a:tab pos="123825" algn="l"/>
              </a:tabLst>
            </a:pP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Scikit-learn</a:t>
            </a:r>
            <a:endParaRPr sz="1400">
              <a:latin typeface="Arial MT"/>
              <a:cs typeface="Arial MT"/>
            </a:endParaRPr>
          </a:p>
          <a:p>
            <a:pPr marL="123825" indent="-111125">
              <a:lnSpc>
                <a:spcPct val="100000"/>
              </a:lnSpc>
              <a:spcBef>
                <a:spcPts val="615"/>
              </a:spcBef>
              <a:buChar char="•"/>
              <a:tabLst>
                <a:tab pos="123825" algn="l"/>
              </a:tabLst>
            </a:pP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Pandas</a:t>
            </a:r>
            <a:endParaRPr sz="1400">
              <a:latin typeface="Arial MT"/>
              <a:cs typeface="Arial MT"/>
            </a:endParaRPr>
          </a:p>
          <a:p>
            <a:pPr marL="152400" indent="-139700">
              <a:lnSpc>
                <a:spcPct val="100000"/>
              </a:lnSpc>
              <a:spcBef>
                <a:spcPts val="615"/>
              </a:spcBef>
              <a:buChar char="•"/>
              <a:tabLst>
                <a:tab pos="152400" algn="l"/>
              </a:tabLst>
            </a:pP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Used</a:t>
            </a:r>
            <a:r>
              <a:rPr dirty="0" sz="1400" spc="4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to</a:t>
            </a:r>
            <a:r>
              <a:rPr dirty="0" sz="1400" spc="4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train</a:t>
            </a:r>
            <a:r>
              <a:rPr dirty="0" sz="1400" spc="4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and</a:t>
            </a:r>
            <a:r>
              <a:rPr dirty="0" sz="1400" spc="4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run</a:t>
            </a:r>
            <a:r>
              <a:rPr dirty="0" sz="1400" spc="4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the</a:t>
            </a:r>
            <a:r>
              <a:rPr dirty="0" sz="1400" spc="4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emotion</a:t>
            </a:r>
            <a:r>
              <a:rPr dirty="0" sz="1400" spc="4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detection</a:t>
            </a:r>
            <a:r>
              <a:rPr dirty="0" sz="1400" spc="4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model.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Font typeface="Arial MT"/>
              <a:buChar char="•"/>
            </a:pP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20"/>
              </a:spcBef>
              <a:buFont typeface="Arial MT"/>
              <a:buChar char="•"/>
            </a:pP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500" b="1">
                <a:solidFill>
                  <a:srgbClr val="111111"/>
                </a:solidFill>
                <a:latin typeface="Arial"/>
                <a:cs typeface="Arial"/>
              </a:rPr>
              <a:t>Other</a:t>
            </a:r>
            <a:r>
              <a:rPr dirty="0" sz="1500" spc="-20" b="1">
                <a:solidFill>
                  <a:srgbClr val="111111"/>
                </a:solidFill>
                <a:latin typeface="Arial"/>
                <a:cs typeface="Arial"/>
              </a:rPr>
              <a:t> Tools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25"/>
              </a:spcBef>
            </a:pPr>
            <a:endParaRPr sz="1500">
              <a:latin typeface="Arial"/>
              <a:cs typeface="Arial"/>
            </a:endParaRPr>
          </a:p>
          <a:p>
            <a:pPr marL="123825" indent="-111125">
              <a:lnSpc>
                <a:spcPct val="100000"/>
              </a:lnSpc>
              <a:buChar char="•"/>
              <a:tabLst>
                <a:tab pos="123825" algn="l"/>
              </a:tabLst>
            </a:pP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Joblib</a:t>
            </a:r>
            <a:r>
              <a:rPr dirty="0" sz="1400" spc="-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–</a:t>
            </a:r>
            <a:r>
              <a:rPr dirty="0" sz="1400" spc="-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used</a:t>
            </a:r>
            <a:r>
              <a:rPr dirty="0" sz="1400" spc="-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to</a:t>
            </a:r>
            <a:r>
              <a:rPr dirty="0" sz="1400" spc="-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save</a:t>
            </a:r>
            <a:r>
              <a:rPr dirty="0" sz="1400" spc="-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the</a:t>
            </a:r>
            <a:r>
              <a:rPr dirty="0" sz="1400" spc="-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trained</a:t>
            </a:r>
            <a:r>
              <a:rPr dirty="0" sz="1400" spc="-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 spc="-20">
                <a:solidFill>
                  <a:srgbClr val="111111"/>
                </a:solidFill>
                <a:latin typeface="Arial MT"/>
                <a:cs typeface="Arial MT"/>
              </a:rPr>
              <a:t>model</a:t>
            </a:r>
            <a:endParaRPr sz="1400">
              <a:latin typeface="Arial MT"/>
              <a:cs typeface="Arial MT"/>
            </a:endParaRPr>
          </a:p>
          <a:p>
            <a:pPr marL="123825" indent="-111125">
              <a:lnSpc>
                <a:spcPct val="100000"/>
              </a:lnSpc>
              <a:spcBef>
                <a:spcPts val="615"/>
              </a:spcBef>
              <a:buChar char="•"/>
              <a:tabLst>
                <a:tab pos="123825" algn="l"/>
              </a:tabLst>
            </a:pP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Git</a:t>
            </a:r>
            <a:r>
              <a:rPr dirty="0" sz="1400" spc="-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&amp;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GitHub</a:t>
            </a:r>
            <a:r>
              <a:rPr dirty="0" sz="1400" spc="-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–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version</a:t>
            </a:r>
            <a:r>
              <a:rPr dirty="0" sz="1400" spc="-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control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and</a:t>
            </a:r>
            <a:r>
              <a:rPr dirty="0" sz="1400" spc="-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project</a:t>
            </a:r>
            <a:r>
              <a:rPr dirty="0" sz="1400" spc="-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repository</a:t>
            </a:r>
            <a:endParaRPr sz="1400">
              <a:latin typeface="Arial MT"/>
              <a:cs typeface="Arial MT"/>
            </a:endParaRPr>
          </a:p>
          <a:p>
            <a:pPr marL="123825" indent="-111125">
              <a:lnSpc>
                <a:spcPct val="100000"/>
              </a:lnSpc>
              <a:spcBef>
                <a:spcPts val="615"/>
              </a:spcBef>
              <a:buChar char="•"/>
              <a:tabLst>
                <a:tab pos="123825" algn="l"/>
              </a:tabLst>
            </a:pP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VS</a:t>
            </a:r>
            <a:r>
              <a:rPr dirty="0" sz="1400" spc="-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Code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–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development</a:t>
            </a:r>
            <a:r>
              <a:rPr dirty="0" sz="1400" spc="-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environment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073785">
              <a:lnSpc>
                <a:spcPct val="100000"/>
              </a:lnSpc>
              <a:spcBef>
                <a:spcPts val="100"/>
              </a:spcBef>
            </a:pPr>
            <a:r>
              <a:rPr dirty="0" sz="4400" spc="-60"/>
              <a:t>Tools</a:t>
            </a:r>
            <a:r>
              <a:rPr dirty="0" sz="4400" spc="-105"/>
              <a:t> </a:t>
            </a:r>
            <a:r>
              <a:rPr dirty="0" sz="4400"/>
              <a:t>And</a:t>
            </a:r>
            <a:r>
              <a:rPr dirty="0" sz="4400" spc="-85"/>
              <a:t> </a:t>
            </a:r>
            <a:r>
              <a:rPr dirty="0" sz="4400" spc="-35"/>
              <a:t>Technologies</a:t>
            </a:r>
            <a:r>
              <a:rPr dirty="0" sz="4400" spc="-80"/>
              <a:t> </a:t>
            </a:r>
            <a:r>
              <a:rPr dirty="0" sz="4400" spc="-170"/>
              <a:t>To</a:t>
            </a:r>
            <a:r>
              <a:rPr dirty="0" sz="4400" spc="-70"/>
              <a:t> </a:t>
            </a:r>
            <a:r>
              <a:rPr dirty="0" sz="4400"/>
              <a:t>Be</a:t>
            </a:r>
            <a:r>
              <a:rPr dirty="0" sz="4400" spc="-90"/>
              <a:t> </a:t>
            </a:r>
            <a:r>
              <a:rPr dirty="0" sz="4400" spc="-20"/>
              <a:t>Used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35982" y="1327174"/>
            <a:ext cx="3517265" cy="1133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solidFill>
                  <a:srgbClr val="111111"/>
                </a:solidFill>
                <a:latin typeface="Arial"/>
                <a:cs typeface="Arial"/>
              </a:rPr>
              <a:t>Database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20"/>
              </a:spcBef>
            </a:pPr>
            <a:endParaRPr sz="1500">
              <a:latin typeface="Arial"/>
              <a:cs typeface="Arial"/>
            </a:endParaRPr>
          </a:p>
          <a:p>
            <a:pPr marL="123825" indent="-111125">
              <a:lnSpc>
                <a:spcPct val="100000"/>
              </a:lnSpc>
              <a:buChar char="•"/>
              <a:tabLst>
                <a:tab pos="123825" algn="l"/>
              </a:tabLst>
            </a:pP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Not</a:t>
            </a:r>
            <a:r>
              <a:rPr dirty="0" sz="1400" spc="-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used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 currently</a:t>
            </a:r>
            <a:endParaRPr sz="1400">
              <a:latin typeface="Arial MT"/>
              <a:cs typeface="Arial MT"/>
            </a:endParaRPr>
          </a:p>
          <a:p>
            <a:pPr marL="123825" indent="-111125">
              <a:lnSpc>
                <a:spcPct val="100000"/>
              </a:lnSpc>
              <a:spcBef>
                <a:spcPts val="615"/>
              </a:spcBef>
              <a:buChar char="•"/>
              <a:tabLst>
                <a:tab pos="123825" algn="l"/>
              </a:tabLst>
            </a:pP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Simple</a:t>
            </a:r>
            <a:r>
              <a:rPr dirty="0" sz="1400" spc="-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authentication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system</a:t>
            </a:r>
            <a:r>
              <a:rPr dirty="0" sz="1400" spc="-2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implemented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9784" rIns="0" bIns="0" rtlCol="0" vert="horz">
            <a:spAutoFit/>
          </a:bodyPr>
          <a:lstStyle/>
          <a:p>
            <a:pPr marL="4539615">
              <a:lnSpc>
                <a:spcPct val="100000"/>
              </a:lnSpc>
              <a:spcBef>
                <a:spcPts val="90"/>
              </a:spcBef>
            </a:pPr>
            <a:r>
              <a:rPr dirty="0"/>
              <a:t>Github</a:t>
            </a:r>
            <a:r>
              <a:rPr dirty="0" spc="-100"/>
              <a:t> </a:t>
            </a:r>
            <a:r>
              <a:rPr dirty="0" spc="-20"/>
              <a:t>Link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5000" y="1164423"/>
            <a:ext cx="42062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Char char="•"/>
              <a:tabLst>
                <a:tab pos="240665" algn="l"/>
              </a:tabLst>
            </a:pPr>
            <a:r>
              <a:rPr dirty="0" sz="1800" spc="-10">
                <a:latin typeface="Arial MT"/>
                <a:cs typeface="Arial MT"/>
                <a:hlinkClick r:id="rId2"/>
              </a:rPr>
              <a:t>https://github.com/hareeeeey/mindcare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9784" rIns="0" bIns="0" rtlCol="0" vert="horz">
            <a:spAutoFit/>
          </a:bodyPr>
          <a:lstStyle/>
          <a:p>
            <a:pPr marL="3750945">
              <a:lnSpc>
                <a:spcPct val="100000"/>
              </a:lnSpc>
              <a:spcBef>
                <a:spcPts val="90"/>
              </a:spcBef>
            </a:pPr>
            <a:r>
              <a:rPr dirty="0" spc="-10"/>
              <a:t>System</a:t>
            </a:r>
            <a:r>
              <a:rPr dirty="0" spc="-135"/>
              <a:t> </a:t>
            </a:r>
            <a:r>
              <a:rPr dirty="0" spc="-10"/>
              <a:t>Demonstration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55117" y="916966"/>
            <a:ext cx="7383365" cy="416802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662265" y="5260320"/>
            <a:ext cx="969644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Cambria"/>
                <a:cs typeface="Cambria"/>
              </a:rPr>
              <a:t>Login</a:t>
            </a:r>
            <a:r>
              <a:rPr dirty="0" sz="1600" spc="-50">
                <a:latin typeface="Cambria"/>
                <a:cs typeface="Cambria"/>
              </a:rPr>
              <a:t> </a:t>
            </a:r>
            <a:r>
              <a:rPr dirty="0" sz="1600" spc="-20">
                <a:latin typeface="Cambria"/>
                <a:cs typeface="Cambria"/>
              </a:rPr>
              <a:t>page</a:t>
            </a:r>
            <a:endParaRPr sz="16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9784" rIns="0" bIns="0" rtlCol="0" vert="horz">
            <a:spAutoFit/>
          </a:bodyPr>
          <a:lstStyle/>
          <a:p>
            <a:pPr marL="3750945">
              <a:lnSpc>
                <a:spcPct val="100000"/>
              </a:lnSpc>
              <a:spcBef>
                <a:spcPts val="90"/>
              </a:spcBef>
            </a:pPr>
            <a:r>
              <a:rPr dirty="0" spc="-10"/>
              <a:t>System</a:t>
            </a:r>
            <a:r>
              <a:rPr dirty="0" spc="-135"/>
              <a:t> </a:t>
            </a:r>
            <a:r>
              <a:rPr dirty="0" spc="-10"/>
              <a:t>Demonstration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55117" y="916966"/>
            <a:ext cx="7383365" cy="416802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508783" y="5223219"/>
            <a:ext cx="117475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latin typeface="Cambria"/>
                <a:cs typeface="Cambria"/>
              </a:rPr>
              <a:t>Main</a:t>
            </a:r>
            <a:r>
              <a:rPr dirty="0" sz="1400" spc="-15">
                <a:latin typeface="Cambria"/>
                <a:cs typeface="Cambria"/>
              </a:rPr>
              <a:t> </a:t>
            </a:r>
            <a:r>
              <a:rPr dirty="0" sz="1400">
                <a:latin typeface="Cambria"/>
                <a:cs typeface="Cambria"/>
              </a:rPr>
              <a:t>chat</a:t>
            </a:r>
            <a:r>
              <a:rPr dirty="0" sz="1400" spc="-15">
                <a:latin typeface="Cambria"/>
                <a:cs typeface="Cambria"/>
              </a:rPr>
              <a:t> </a:t>
            </a:r>
            <a:r>
              <a:rPr dirty="0" sz="1400" spc="-20">
                <a:latin typeface="Cambria"/>
                <a:cs typeface="Cambria"/>
              </a:rPr>
              <a:t>page</a:t>
            </a:r>
            <a:endParaRPr sz="1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9784" rIns="0" bIns="0" rtlCol="0" vert="horz">
            <a:spAutoFit/>
          </a:bodyPr>
          <a:lstStyle/>
          <a:p>
            <a:pPr marL="3750945">
              <a:lnSpc>
                <a:spcPct val="100000"/>
              </a:lnSpc>
              <a:spcBef>
                <a:spcPts val="90"/>
              </a:spcBef>
            </a:pPr>
            <a:r>
              <a:rPr dirty="0" spc="-10"/>
              <a:t>System</a:t>
            </a:r>
            <a:r>
              <a:rPr dirty="0" spc="-135"/>
              <a:t> </a:t>
            </a:r>
            <a:r>
              <a:rPr dirty="0" spc="-10"/>
              <a:t>Demonstration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9978" y="4574937"/>
            <a:ext cx="4512310" cy="23050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50">
                <a:latin typeface="Cambria"/>
                <a:cs typeface="Cambria"/>
              </a:rPr>
              <a:t>Emotion</a:t>
            </a:r>
            <a:r>
              <a:rPr dirty="0" sz="1350" spc="-50">
                <a:latin typeface="Cambria"/>
                <a:cs typeface="Cambria"/>
              </a:rPr>
              <a:t> </a:t>
            </a:r>
            <a:r>
              <a:rPr dirty="0" sz="1350" spc="-10">
                <a:latin typeface="Cambria"/>
                <a:cs typeface="Cambria"/>
              </a:rPr>
              <a:t>Detection</a:t>
            </a:r>
            <a:r>
              <a:rPr dirty="0" sz="1350" spc="-40">
                <a:latin typeface="Cambria"/>
                <a:cs typeface="Cambria"/>
              </a:rPr>
              <a:t> </a:t>
            </a:r>
            <a:r>
              <a:rPr dirty="0" sz="1350">
                <a:latin typeface="Cambria"/>
                <a:cs typeface="Cambria"/>
              </a:rPr>
              <a:t>with</a:t>
            </a:r>
            <a:r>
              <a:rPr dirty="0" sz="1350" spc="-45">
                <a:latin typeface="Cambria"/>
                <a:cs typeface="Cambria"/>
              </a:rPr>
              <a:t> </a:t>
            </a:r>
            <a:r>
              <a:rPr dirty="0" sz="1350">
                <a:latin typeface="Cambria"/>
                <a:cs typeface="Cambria"/>
              </a:rPr>
              <a:t>confidence</a:t>
            </a:r>
            <a:r>
              <a:rPr dirty="0" sz="1350" spc="-45">
                <a:latin typeface="Cambria"/>
                <a:cs typeface="Cambria"/>
              </a:rPr>
              <a:t> </a:t>
            </a:r>
            <a:r>
              <a:rPr dirty="0" sz="1350">
                <a:latin typeface="Cambria"/>
                <a:cs typeface="Cambria"/>
              </a:rPr>
              <a:t>score</a:t>
            </a:r>
            <a:r>
              <a:rPr dirty="0" sz="1350" spc="-45">
                <a:latin typeface="Cambria"/>
                <a:cs typeface="Cambria"/>
              </a:rPr>
              <a:t> </a:t>
            </a:r>
            <a:r>
              <a:rPr dirty="0" sz="1350">
                <a:latin typeface="Cambria"/>
                <a:cs typeface="Cambria"/>
              </a:rPr>
              <a:t>in</a:t>
            </a:r>
            <a:r>
              <a:rPr dirty="0" sz="1350" spc="-45">
                <a:latin typeface="Cambria"/>
                <a:cs typeface="Cambria"/>
              </a:rPr>
              <a:t> </a:t>
            </a:r>
            <a:r>
              <a:rPr dirty="0" sz="1350">
                <a:latin typeface="Cambria"/>
                <a:cs typeface="Cambria"/>
              </a:rPr>
              <a:t>VS</a:t>
            </a:r>
            <a:r>
              <a:rPr dirty="0" sz="1350" spc="-50">
                <a:latin typeface="Cambria"/>
                <a:cs typeface="Cambria"/>
              </a:rPr>
              <a:t> </a:t>
            </a:r>
            <a:r>
              <a:rPr dirty="0" sz="1350">
                <a:latin typeface="Cambria"/>
                <a:cs typeface="Cambria"/>
              </a:rPr>
              <a:t>Code</a:t>
            </a:r>
            <a:r>
              <a:rPr dirty="0" sz="1350" spc="-45">
                <a:latin typeface="Cambria"/>
                <a:cs typeface="Cambria"/>
              </a:rPr>
              <a:t> </a:t>
            </a:r>
            <a:r>
              <a:rPr dirty="0" sz="1350" spc="-10">
                <a:latin typeface="Cambria"/>
                <a:cs typeface="Cambria"/>
              </a:rPr>
              <a:t>Terminal</a:t>
            </a:r>
            <a:endParaRPr sz="135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81350" y="1643999"/>
            <a:ext cx="5930900" cy="2590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978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Timeline</a:t>
            </a:r>
            <a:r>
              <a:rPr dirty="0" spc="-85"/>
              <a:t> </a:t>
            </a:r>
            <a:r>
              <a:rPr dirty="0"/>
              <a:t>of</a:t>
            </a:r>
            <a:r>
              <a:rPr dirty="0" spc="-80"/>
              <a:t> </a:t>
            </a:r>
            <a:r>
              <a:rPr dirty="0"/>
              <a:t>the</a:t>
            </a:r>
            <a:r>
              <a:rPr dirty="0" spc="-80"/>
              <a:t> </a:t>
            </a:r>
            <a:r>
              <a:rPr dirty="0"/>
              <a:t>Project</a:t>
            </a:r>
            <a:r>
              <a:rPr dirty="0" spc="-80"/>
              <a:t> </a:t>
            </a:r>
            <a:r>
              <a:rPr dirty="0"/>
              <a:t>(Gantt</a:t>
            </a:r>
            <a:r>
              <a:rPr dirty="0" spc="-80"/>
              <a:t> </a:t>
            </a:r>
            <a:r>
              <a:rPr dirty="0" spc="-10"/>
              <a:t>Chart)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1188" y="1831171"/>
            <a:ext cx="11445205" cy="225723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978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Timeline</a:t>
            </a:r>
            <a:r>
              <a:rPr dirty="0" spc="-85"/>
              <a:t> </a:t>
            </a:r>
            <a:r>
              <a:rPr dirty="0"/>
              <a:t>of</a:t>
            </a:r>
            <a:r>
              <a:rPr dirty="0" spc="-80"/>
              <a:t> </a:t>
            </a:r>
            <a:r>
              <a:rPr dirty="0"/>
              <a:t>the</a:t>
            </a:r>
            <a:r>
              <a:rPr dirty="0" spc="-80"/>
              <a:t> </a:t>
            </a:r>
            <a:r>
              <a:rPr dirty="0"/>
              <a:t>Project</a:t>
            </a:r>
            <a:r>
              <a:rPr dirty="0" spc="-80"/>
              <a:t> </a:t>
            </a:r>
            <a:r>
              <a:rPr dirty="0"/>
              <a:t>(Gantt</a:t>
            </a:r>
            <a:r>
              <a:rPr dirty="0" spc="-80"/>
              <a:t> </a:t>
            </a:r>
            <a:r>
              <a:rPr dirty="0" spc="-10"/>
              <a:t>Chart)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1540" y="1275934"/>
            <a:ext cx="3451860" cy="30772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111111"/>
                </a:solidFill>
                <a:latin typeface="Arial"/>
                <a:cs typeface="Arial"/>
              </a:rPr>
              <a:t>Phase</a:t>
            </a:r>
            <a:r>
              <a:rPr dirty="0" sz="1500" spc="-1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111111"/>
                </a:solidFill>
                <a:latin typeface="Arial"/>
                <a:cs typeface="Arial"/>
              </a:rPr>
              <a:t>1</a:t>
            </a:r>
            <a:r>
              <a:rPr dirty="0" sz="1500" spc="-1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111111"/>
                </a:solidFill>
                <a:latin typeface="Arial"/>
                <a:cs typeface="Arial"/>
              </a:rPr>
              <a:t>—</a:t>
            </a:r>
            <a:r>
              <a:rPr dirty="0" sz="1500" spc="-10" b="1">
                <a:solidFill>
                  <a:srgbClr val="111111"/>
                </a:solidFill>
                <a:latin typeface="Arial"/>
                <a:cs typeface="Arial"/>
              </a:rPr>
              <a:t> Completed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20"/>
              </a:spcBef>
            </a:pPr>
            <a:endParaRPr sz="1500">
              <a:latin typeface="Arial"/>
              <a:cs typeface="Arial"/>
            </a:endParaRPr>
          </a:p>
          <a:p>
            <a:pPr marL="123825" indent="-111125">
              <a:lnSpc>
                <a:spcPct val="100000"/>
              </a:lnSpc>
              <a:buChar char="•"/>
              <a:tabLst>
                <a:tab pos="123825" algn="l"/>
              </a:tabLst>
            </a:pP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Project</a:t>
            </a:r>
            <a:r>
              <a:rPr dirty="0" sz="1400" spc="-2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setup</a:t>
            </a:r>
            <a:endParaRPr sz="1400">
              <a:latin typeface="Arial MT"/>
              <a:cs typeface="Arial MT"/>
            </a:endParaRPr>
          </a:p>
          <a:p>
            <a:pPr marL="123825" indent="-111125">
              <a:lnSpc>
                <a:spcPct val="100000"/>
              </a:lnSpc>
              <a:spcBef>
                <a:spcPts val="615"/>
              </a:spcBef>
              <a:buChar char="•"/>
              <a:tabLst>
                <a:tab pos="123825" algn="l"/>
              </a:tabLst>
            </a:pP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Frontend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chat</a:t>
            </a:r>
            <a:r>
              <a:rPr dirty="0" sz="1400" spc="-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interface</a:t>
            </a:r>
            <a:r>
              <a:rPr dirty="0" sz="1400" spc="-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development</a:t>
            </a:r>
            <a:endParaRPr sz="1400">
              <a:latin typeface="Arial MT"/>
              <a:cs typeface="Arial MT"/>
            </a:endParaRPr>
          </a:p>
          <a:p>
            <a:pPr marL="123825" indent="-111125">
              <a:lnSpc>
                <a:spcPct val="100000"/>
              </a:lnSpc>
              <a:spcBef>
                <a:spcPts val="615"/>
              </a:spcBef>
              <a:buChar char="•"/>
              <a:tabLst>
                <a:tab pos="123825" algn="l"/>
              </a:tabLst>
            </a:pP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Backend</a:t>
            </a:r>
            <a:r>
              <a:rPr dirty="0" sz="1400" spc="-2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server</a:t>
            </a:r>
            <a:r>
              <a:rPr dirty="0" sz="1400" spc="-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 spc="-20">
                <a:solidFill>
                  <a:srgbClr val="111111"/>
                </a:solidFill>
                <a:latin typeface="Arial MT"/>
                <a:cs typeface="Arial MT"/>
              </a:rPr>
              <a:t>setup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85"/>
              </a:spcBef>
              <a:buClr>
                <a:srgbClr val="111111"/>
              </a:buClr>
              <a:buFont typeface="Arial MT"/>
              <a:buChar char="•"/>
            </a:pP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500" b="1">
                <a:solidFill>
                  <a:srgbClr val="111111"/>
                </a:solidFill>
                <a:latin typeface="Arial"/>
                <a:cs typeface="Arial"/>
              </a:rPr>
              <a:t>Phase</a:t>
            </a:r>
            <a:r>
              <a:rPr dirty="0" sz="1500" spc="-1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111111"/>
                </a:solidFill>
                <a:latin typeface="Arial"/>
                <a:cs typeface="Arial"/>
              </a:rPr>
              <a:t>2</a:t>
            </a:r>
            <a:r>
              <a:rPr dirty="0" sz="1500" spc="-1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111111"/>
                </a:solidFill>
                <a:latin typeface="Arial"/>
                <a:cs typeface="Arial"/>
              </a:rPr>
              <a:t>—</a:t>
            </a:r>
            <a:r>
              <a:rPr dirty="0" sz="1500" spc="-10" b="1">
                <a:solidFill>
                  <a:srgbClr val="111111"/>
                </a:solidFill>
                <a:latin typeface="Arial"/>
                <a:cs typeface="Arial"/>
              </a:rPr>
              <a:t> Completed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20"/>
              </a:spcBef>
            </a:pPr>
            <a:endParaRPr sz="1500">
              <a:latin typeface="Arial"/>
              <a:cs typeface="Arial"/>
            </a:endParaRPr>
          </a:p>
          <a:p>
            <a:pPr marL="123825" indent="-111125">
              <a:lnSpc>
                <a:spcPct val="100000"/>
              </a:lnSpc>
              <a:buChar char="•"/>
              <a:tabLst>
                <a:tab pos="123825" algn="l"/>
              </a:tabLst>
            </a:pP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Emotion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detection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ML</a:t>
            </a:r>
            <a:r>
              <a:rPr dirty="0" sz="1400" spc="-6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model</a:t>
            </a:r>
            <a:r>
              <a:rPr dirty="0" sz="1400" spc="-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development</a:t>
            </a:r>
            <a:endParaRPr sz="1400">
              <a:latin typeface="Arial MT"/>
              <a:cs typeface="Arial MT"/>
            </a:endParaRPr>
          </a:p>
          <a:p>
            <a:pPr marL="123825" indent="-111125">
              <a:lnSpc>
                <a:spcPct val="100000"/>
              </a:lnSpc>
              <a:spcBef>
                <a:spcPts val="615"/>
              </a:spcBef>
              <a:buChar char="•"/>
              <a:tabLst>
                <a:tab pos="123825" algn="l"/>
              </a:tabLst>
            </a:pP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Integration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of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ML</a:t>
            </a:r>
            <a:r>
              <a:rPr dirty="0" sz="1400" spc="-6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model</a:t>
            </a:r>
            <a:r>
              <a:rPr dirty="0" sz="1400" spc="-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with</a:t>
            </a:r>
            <a:r>
              <a:rPr dirty="0" sz="1400" spc="-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backend</a:t>
            </a:r>
            <a:endParaRPr sz="1400">
              <a:latin typeface="Arial MT"/>
              <a:cs typeface="Arial MT"/>
            </a:endParaRPr>
          </a:p>
          <a:p>
            <a:pPr marL="123825" indent="-111125">
              <a:lnSpc>
                <a:spcPct val="100000"/>
              </a:lnSpc>
              <a:spcBef>
                <a:spcPts val="615"/>
              </a:spcBef>
              <a:buChar char="•"/>
              <a:tabLst>
                <a:tab pos="123825" algn="l"/>
              </a:tabLst>
            </a:pP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Implementation</a:t>
            </a:r>
            <a:r>
              <a:rPr dirty="0" sz="1400" spc="-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of</a:t>
            </a:r>
            <a:r>
              <a:rPr dirty="0" sz="1400" spc="-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basic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response</a:t>
            </a:r>
            <a:r>
              <a:rPr dirty="0" sz="1400" spc="-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engine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978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Timeline</a:t>
            </a:r>
            <a:r>
              <a:rPr dirty="0" spc="-85"/>
              <a:t> </a:t>
            </a:r>
            <a:r>
              <a:rPr dirty="0"/>
              <a:t>of</a:t>
            </a:r>
            <a:r>
              <a:rPr dirty="0" spc="-80"/>
              <a:t> </a:t>
            </a:r>
            <a:r>
              <a:rPr dirty="0"/>
              <a:t>the</a:t>
            </a:r>
            <a:r>
              <a:rPr dirty="0" spc="-80"/>
              <a:t> </a:t>
            </a:r>
            <a:r>
              <a:rPr dirty="0"/>
              <a:t>Project</a:t>
            </a:r>
            <a:r>
              <a:rPr dirty="0" spc="-80"/>
              <a:t> </a:t>
            </a:r>
            <a:r>
              <a:rPr dirty="0"/>
              <a:t>(Gantt</a:t>
            </a:r>
            <a:r>
              <a:rPr dirty="0" spc="-80"/>
              <a:t> </a:t>
            </a:r>
            <a:r>
              <a:rPr dirty="0" spc="-10"/>
              <a:t>Chart)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1540" y="1275934"/>
            <a:ext cx="3670935" cy="33540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111111"/>
                </a:solidFill>
                <a:latin typeface="Arial"/>
                <a:cs typeface="Arial"/>
              </a:rPr>
              <a:t>Phase</a:t>
            </a:r>
            <a:r>
              <a:rPr dirty="0" sz="1500" spc="-1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111111"/>
                </a:solidFill>
                <a:latin typeface="Arial"/>
                <a:cs typeface="Arial"/>
              </a:rPr>
              <a:t>3</a:t>
            </a:r>
            <a:r>
              <a:rPr dirty="0" sz="1500" spc="-1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111111"/>
                </a:solidFill>
                <a:latin typeface="Arial"/>
                <a:cs typeface="Arial"/>
              </a:rPr>
              <a:t>—</a:t>
            </a:r>
            <a:r>
              <a:rPr dirty="0" sz="1500" spc="-1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111111"/>
                </a:solidFill>
                <a:latin typeface="Arial"/>
                <a:cs typeface="Arial"/>
              </a:rPr>
              <a:t>In</a:t>
            </a:r>
            <a:r>
              <a:rPr dirty="0" sz="1500" spc="-10" b="1">
                <a:solidFill>
                  <a:srgbClr val="111111"/>
                </a:solidFill>
                <a:latin typeface="Arial"/>
                <a:cs typeface="Arial"/>
              </a:rPr>
              <a:t> Progress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20"/>
              </a:spcBef>
            </a:pPr>
            <a:endParaRPr sz="1500">
              <a:latin typeface="Arial"/>
              <a:cs typeface="Arial"/>
            </a:endParaRPr>
          </a:p>
          <a:p>
            <a:pPr marL="123825" indent="-111125">
              <a:lnSpc>
                <a:spcPct val="100000"/>
              </a:lnSpc>
              <a:buChar char="•"/>
              <a:tabLst>
                <a:tab pos="123825" algn="l"/>
              </a:tabLst>
            </a:pP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Dataset</a:t>
            </a:r>
            <a:r>
              <a:rPr dirty="0" sz="1400" spc="-2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expansion</a:t>
            </a:r>
            <a:r>
              <a:rPr dirty="0" sz="1400" spc="-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(~1000</a:t>
            </a:r>
            <a:r>
              <a:rPr dirty="0" sz="1400" spc="-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samples</a:t>
            </a:r>
            <a:r>
              <a:rPr dirty="0" sz="1400" spc="-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planned)</a:t>
            </a:r>
            <a:endParaRPr sz="1400">
              <a:latin typeface="Arial MT"/>
              <a:cs typeface="Arial MT"/>
            </a:endParaRPr>
          </a:p>
          <a:p>
            <a:pPr marL="123825" indent="-111125">
              <a:lnSpc>
                <a:spcPct val="100000"/>
              </a:lnSpc>
              <a:spcBef>
                <a:spcPts val="615"/>
              </a:spcBef>
              <a:buChar char="•"/>
              <a:tabLst>
                <a:tab pos="123825" algn="l"/>
              </a:tabLst>
            </a:pP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Improving</a:t>
            </a:r>
            <a:r>
              <a:rPr dirty="0" sz="1400" spc="-2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prediction</a:t>
            </a:r>
            <a:r>
              <a:rPr dirty="0" sz="1400" spc="-2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accuracy</a:t>
            </a:r>
            <a:endParaRPr sz="1400">
              <a:latin typeface="Arial MT"/>
              <a:cs typeface="Arial MT"/>
            </a:endParaRPr>
          </a:p>
          <a:p>
            <a:pPr marL="113664" indent="-100965">
              <a:lnSpc>
                <a:spcPct val="100000"/>
              </a:lnSpc>
              <a:spcBef>
                <a:spcPts val="615"/>
              </a:spcBef>
              <a:buChar char="•"/>
              <a:tabLst>
                <a:tab pos="113664" algn="l"/>
              </a:tabLst>
            </a:pP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Adding</a:t>
            </a:r>
            <a:r>
              <a:rPr dirty="0" sz="1400" spc="-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more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emotion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response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 suggestions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85"/>
              </a:spcBef>
              <a:buClr>
                <a:srgbClr val="111111"/>
              </a:buClr>
              <a:buFont typeface="Arial MT"/>
              <a:buChar char="•"/>
            </a:pP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500" b="1">
                <a:solidFill>
                  <a:srgbClr val="111111"/>
                </a:solidFill>
                <a:latin typeface="Arial"/>
                <a:cs typeface="Arial"/>
              </a:rPr>
              <a:t>Phase</a:t>
            </a:r>
            <a:r>
              <a:rPr dirty="0" sz="1500" spc="-1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111111"/>
                </a:solidFill>
                <a:latin typeface="Arial"/>
                <a:cs typeface="Arial"/>
              </a:rPr>
              <a:t>4</a:t>
            </a:r>
            <a:r>
              <a:rPr dirty="0" sz="1500" spc="-1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111111"/>
                </a:solidFill>
                <a:latin typeface="Arial"/>
                <a:cs typeface="Arial"/>
              </a:rPr>
              <a:t>—</a:t>
            </a:r>
            <a:r>
              <a:rPr dirty="0" sz="1500" spc="-10" b="1">
                <a:solidFill>
                  <a:srgbClr val="111111"/>
                </a:solidFill>
                <a:latin typeface="Arial"/>
                <a:cs typeface="Arial"/>
              </a:rPr>
              <a:t> Upcoming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20"/>
              </a:spcBef>
            </a:pPr>
            <a:endParaRPr sz="1500">
              <a:latin typeface="Arial"/>
              <a:cs typeface="Arial"/>
            </a:endParaRPr>
          </a:p>
          <a:p>
            <a:pPr marL="123825" indent="-111125">
              <a:lnSpc>
                <a:spcPct val="100000"/>
              </a:lnSpc>
              <a:buChar char="•"/>
              <a:tabLst>
                <a:tab pos="123825" algn="l"/>
              </a:tabLst>
            </a:pP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UI</a:t>
            </a:r>
            <a:r>
              <a:rPr dirty="0" sz="1400" spc="-2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improvements</a:t>
            </a:r>
            <a:endParaRPr sz="1400">
              <a:latin typeface="Arial MT"/>
              <a:cs typeface="Arial MT"/>
            </a:endParaRPr>
          </a:p>
          <a:p>
            <a:pPr marL="123825" indent="-111125">
              <a:lnSpc>
                <a:spcPct val="100000"/>
              </a:lnSpc>
              <a:spcBef>
                <a:spcPts val="615"/>
              </a:spcBef>
              <a:buChar char="•"/>
              <a:tabLst>
                <a:tab pos="123825" algn="l"/>
              </a:tabLst>
            </a:pP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Final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system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 testing</a:t>
            </a:r>
            <a:endParaRPr sz="1400">
              <a:latin typeface="Arial MT"/>
              <a:cs typeface="Arial MT"/>
            </a:endParaRPr>
          </a:p>
          <a:p>
            <a:pPr marL="152400" indent="-139700">
              <a:lnSpc>
                <a:spcPct val="100000"/>
              </a:lnSpc>
              <a:spcBef>
                <a:spcPts val="615"/>
              </a:spcBef>
              <a:buChar char="•"/>
              <a:tabLst>
                <a:tab pos="152400" algn="l"/>
              </a:tabLst>
            </a:pP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Project</a:t>
            </a:r>
            <a:r>
              <a:rPr dirty="0" sz="1400" spc="-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documentation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and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 deployment</a:t>
            </a:r>
            <a:endParaRPr sz="1400">
              <a:latin typeface="Arial MT"/>
              <a:cs typeface="Arial MT"/>
            </a:endParaRPr>
          </a:p>
          <a:p>
            <a:pPr marL="152400" indent="-139700">
              <a:lnSpc>
                <a:spcPct val="100000"/>
              </a:lnSpc>
              <a:spcBef>
                <a:spcPts val="500"/>
              </a:spcBef>
              <a:buChar char="•"/>
              <a:tabLst>
                <a:tab pos="152400" algn="l"/>
              </a:tabLst>
            </a:pP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Add</a:t>
            </a:r>
            <a:r>
              <a:rPr dirty="0" sz="1400" spc="7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conversational</a:t>
            </a:r>
            <a:r>
              <a:rPr dirty="0" sz="1400" spc="8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intent</a:t>
            </a:r>
            <a:r>
              <a:rPr dirty="0" sz="1400" spc="7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detection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978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10"/>
              <a:t>References</a:t>
            </a:r>
            <a:r>
              <a:rPr dirty="0" spc="-110"/>
              <a:t> </a:t>
            </a:r>
            <a:r>
              <a:rPr dirty="0"/>
              <a:t>(IEEE</a:t>
            </a:r>
            <a:r>
              <a:rPr dirty="0" spc="-100"/>
              <a:t> </a:t>
            </a:r>
            <a:r>
              <a:rPr dirty="0"/>
              <a:t>Paper</a:t>
            </a:r>
            <a:r>
              <a:rPr dirty="0" spc="-105"/>
              <a:t> </a:t>
            </a:r>
            <a:r>
              <a:rPr dirty="0" spc="-10"/>
              <a:t>format)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5800" y="1095106"/>
            <a:ext cx="10095865" cy="3814445"/>
          </a:xfrm>
          <a:prstGeom prst="rect">
            <a:avLst/>
          </a:prstGeom>
        </p:spPr>
        <p:txBody>
          <a:bodyPr wrap="square" lIns="0" tIns="90805" rIns="0" bIns="0" rtlCol="0" vert="horz">
            <a:spAutoFit/>
          </a:bodyPr>
          <a:lstStyle/>
          <a:p>
            <a:pPr marL="152400" indent="-139700">
              <a:lnSpc>
                <a:spcPct val="100000"/>
              </a:lnSpc>
              <a:spcBef>
                <a:spcPts val="715"/>
              </a:spcBef>
              <a:buChar char="•"/>
              <a:tabLst>
                <a:tab pos="152400" algn="l"/>
              </a:tabLst>
            </a:pPr>
            <a:r>
              <a:rPr dirty="0" sz="1400" b="1">
                <a:solidFill>
                  <a:srgbClr val="111111"/>
                </a:solidFill>
                <a:latin typeface="Arial"/>
                <a:cs typeface="Arial"/>
              </a:rPr>
              <a:t>Fitzpatrick,</a:t>
            </a:r>
            <a:r>
              <a:rPr dirty="0" sz="1400" spc="-2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111111"/>
                </a:solidFill>
                <a:latin typeface="Arial"/>
                <a:cs typeface="Arial"/>
              </a:rPr>
              <a:t>K.</a:t>
            </a:r>
            <a:r>
              <a:rPr dirty="0" sz="1400" spc="-2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111111"/>
                </a:solidFill>
                <a:latin typeface="Arial"/>
                <a:cs typeface="Arial"/>
              </a:rPr>
              <a:t>K.,</a:t>
            </a:r>
            <a:r>
              <a:rPr dirty="0" sz="1400" spc="-20" b="1">
                <a:solidFill>
                  <a:srgbClr val="111111"/>
                </a:solidFill>
                <a:latin typeface="Arial"/>
                <a:cs typeface="Arial"/>
              </a:rPr>
              <a:t> Darcy,</a:t>
            </a:r>
            <a:r>
              <a:rPr dirty="0" sz="1400" spc="-6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111111"/>
                </a:solidFill>
                <a:latin typeface="Arial"/>
                <a:cs typeface="Arial"/>
              </a:rPr>
              <a:t>A.,</a:t>
            </a:r>
            <a:r>
              <a:rPr dirty="0" sz="1400" spc="-2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111111"/>
                </a:solidFill>
                <a:latin typeface="Arial"/>
                <a:cs typeface="Arial"/>
              </a:rPr>
              <a:t>&amp;</a:t>
            </a:r>
            <a:r>
              <a:rPr dirty="0" sz="1400" spc="-1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111111"/>
                </a:solidFill>
                <a:latin typeface="Arial"/>
                <a:cs typeface="Arial"/>
              </a:rPr>
              <a:t>Vierhile,</a:t>
            </a:r>
            <a:r>
              <a:rPr dirty="0" sz="1400" spc="-2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111111"/>
                </a:solidFill>
                <a:latin typeface="Arial"/>
                <a:cs typeface="Arial"/>
              </a:rPr>
              <a:t>M.</a:t>
            </a:r>
            <a:r>
              <a:rPr dirty="0" sz="1400" spc="-2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111111"/>
                </a:solidFill>
                <a:latin typeface="Arial"/>
                <a:cs typeface="Arial"/>
              </a:rPr>
              <a:t>(2017).</a:t>
            </a:r>
            <a:endParaRPr sz="1400">
              <a:latin typeface="Arial"/>
              <a:cs typeface="Arial"/>
            </a:endParaRPr>
          </a:p>
          <a:p>
            <a:pPr marL="151765" marR="5080" indent="-139700">
              <a:lnSpc>
                <a:spcPct val="136600"/>
              </a:lnSpc>
              <a:buChar char="•"/>
              <a:tabLst>
                <a:tab pos="153035" algn="l"/>
              </a:tabLst>
            </a:pP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Delivering</a:t>
            </a:r>
            <a:r>
              <a:rPr dirty="0" sz="1400" spc="-3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Cognitive</a:t>
            </a:r>
            <a:r>
              <a:rPr dirty="0" sz="1400" spc="-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Behavioural</a:t>
            </a:r>
            <a:r>
              <a:rPr dirty="0" sz="1400" spc="-3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Therapy</a:t>
            </a:r>
            <a:r>
              <a:rPr dirty="0" sz="1400" spc="-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to</a:t>
            </a:r>
            <a:r>
              <a:rPr dirty="0" sz="1400" spc="-4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 spc="-30">
                <a:solidFill>
                  <a:srgbClr val="111111"/>
                </a:solidFill>
                <a:latin typeface="Arial MT"/>
                <a:cs typeface="Arial MT"/>
              </a:rPr>
              <a:t>Young</a:t>
            </a:r>
            <a:r>
              <a:rPr dirty="0" sz="1400" spc="-8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Adults</a:t>
            </a:r>
            <a:r>
              <a:rPr dirty="0" sz="1400" spc="-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With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Symptoms</a:t>
            </a:r>
            <a:r>
              <a:rPr dirty="0" sz="1400" spc="-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of</a:t>
            </a:r>
            <a:r>
              <a:rPr dirty="0" sz="1400" spc="-2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Depression</a:t>
            </a:r>
            <a:r>
              <a:rPr dirty="0" sz="1400" spc="-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and</a:t>
            </a:r>
            <a:r>
              <a:rPr dirty="0" sz="1400" spc="-9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Anxiety</a:t>
            </a:r>
            <a:r>
              <a:rPr dirty="0" sz="1400" spc="-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Using</a:t>
            </a:r>
            <a:r>
              <a:rPr dirty="0" sz="1400" spc="-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a</a:t>
            </a:r>
            <a:r>
              <a:rPr dirty="0" sz="1400" spc="-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Fully</a:t>
            </a:r>
            <a:r>
              <a:rPr dirty="0" sz="1400" spc="-9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Automated 	Conversational</a:t>
            </a:r>
            <a:r>
              <a:rPr dirty="0" sz="1400" spc="-3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Agent</a:t>
            </a:r>
            <a:r>
              <a:rPr dirty="0" sz="1400" spc="5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(Woebot).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00"/>
              </a:spcBef>
              <a:buFont typeface="Arial"/>
              <a:buChar char="•"/>
            </a:pPr>
            <a:endParaRPr sz="1400">
              <a:latin typeface="Arial MT"/>
              <a:cs typeface="Arial MT"/>
            </a:endParaRPr>
          </a:p>
          <a:p>
            <a:pPr marL="152400" indent="-139700">
              <a:lnSpc>
                <a:spcPct val="100000"/>
              </a:lnSpc>
              <a:buChar char="•"/>
              <a:tabLst>
                <a:tab pos="152400" algn="l"/>
              </a:tabLst>
            </a:pPr>
            <a:r>
              <a:rPr dirty="0" sz="1400" spc="-10" b="1">
                <a:solidFill>
                  <a:srgbClr val="111111"/>
                </a:solidFill>
                <a:latin typeface="Arial"/>
                <a:cs typeface="Arial"/>
              </a:rPr>
              <a:t>Jurafsky,</a:t>
            </a:r>
            <a:r>
              <a:rPr dirty="0" sz="1400" spc="-2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111111"/>
                </a:solidFill>
                <a:latin typeface="Arial"/>
                <a:cs typeface="Arial"/>
              </a:rPr>
              <a:t>D.,</a:t>
            </a:r>
            <a:r>
              <a:rPr dirty="0" sz="1400" spc="-2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111111"/>
                </a:solidFill>
                <a:latin typeface="Arial"/>
                <a:cs typeface="Arial"/>
              </a:rPr>
              <a:t>&amp;</a:t>
            </a:r>
            <a:r>
              <a:rPr dirty="0" sz="1400" spc="-1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111111"/>
                </a:solidFill>
                <a:latin typeface="Arial"/>
                <a:cs typeface="Arial"/>
              </a:rPr>
              <a:t>Martin,</a:t>
            </a:r>
            <a:r>
              <a:rPr dirty="0" sz="1400" spc="-2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111111"/>
                </a:solidFill>
                <a:latin typeface="Arial"/>
                <a:cs typeface="Arial"/>
              </a:rPr>
              <a:t>J.</a:t>
            </a:r>
            <a:r>
              <a:rPr dirty="0" sz="1400" spc="-1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111111"/>
                </a:solidFill>
                <a:latin typeface="Arial"/>
                <a:cs typeface="Arial"/>
              </a:rPr>
              <a:t>H.</a:t>
            </a:r>
            <a:r>
              <a:rPr dirty="0" sz="1400" spc="-2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111111"/>
                </a:solidFill>
                <a:latin typeface="Arial"/>
                <a:cs typeface="Arial"/>
              </a:rPr>
              <a:t>(2023).</a:t>
            </a:r>
            <a:endParaRPr sz="1400">
              <a:latin typeface="Arial"/>
              <a:cs typeface="Arial"/>
            </a:endParaRPr>
          </a:p>
          <a:p>
            <a:pPr marL="152400" indent="-139700">
              <a:lnSpc>
                <a:spcPct val="100000"/>
              </a:lnSpc>
              <a:spcBef>
                <a:spcPts val="615"/>
              </a:spcBef>
              <a:buChar char="•"/>
              <a:tabLst>
                <a:tab pos="152400" algn="l"/>
              </a:tabLst>
            </a:pP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Speech</a:t>
            </a:r>
            <a:r>
              <a:rPr dirty="0" sz="1400" spc="-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and</a:t>
            </a:r>
            <a:r>
              <a:rPr dirty="0" sz="1400" spc="-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Language 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Processing.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00"/>
              </a:spcBef>
              <a:buFont typeface="Arial"/>
              <a:buChar char="•"/>
            </a:pPr>
            <a:endParaRPr sz="1400">
              <a:latin typeface="Arial MT"/>
              <a:cs typeface="Arial MT"/>
            </a:endParaRPr>
          </a:p>
          <a:p>
            <a:pPr marL="152400" indent="-139700">
              <a:lnSpc>
                <a:spcPct val="100000"/>
              </a:lnSpc>
              <a:buChar char="•"/>
              <a:tabLst>
                <a:tab pos="152400" algn="l"/>
              </a:tabLst>
            </a:pPr>
            <a:r>
              <a:rPr dirty="0" sz="1400" b="1">
                <a:solidFill>
                  <a:srgbClr val="111111"/>
                </a:solidFill>
                <a:latin typeface="Arial"/>
                <a:cs typeface="Arial"/>
              </a:rPr>
              <a:t>Pedregosa,</a:t>
            </a:r>
            <a:r>
              <a:rPr dirty="0" sz="1400" spc="-1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400" spc="-75" b="1">
                <a:solidFill>
                  <a:srgbClr val="111111"/>
                </a:solidFill>
                <a:latin typeface="Arial"/>
                <a:cs typeface="Arial"/>
              </a:rPr>
              <a:t>F.</a:t>
            </a:r>
            <a:r>
              <a:rPr dirty="0" sz="1400" spc="-1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111111"/>
                </a:solidFill>
                <a:latin typeface="Arial"/>
                <a:cs typeface="Arial"/>
              </a:rPr>
              <a:t>et</a:t>
            </a:r>
            <a:r>
              <a:rPr dirty="0" sz="1400" spc="-1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111111"/>
                </a:solidFill>
                <a:latin typeface="Arial"/>
                <a:cs typeface="Arial"/>
              </a:rPr>
              <a:t>al.</a:t>
            </a:r>
            <a:r>
              <a:rPr dirty="0" sz="1400" spc="-1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111111"/>
                </a:solidFill>
                <a:latin typeface="Arial"/>
                <a:cs typeface="Arial"/>
              </a:rPr>
              <a:t>(2011).</a:t>
            </a:r>
            <a:endParaRPr sz="1400">
              <a:latin typeface="Arial"/>
              <a:cs typeface="Arial"/>
            </a:endParaRPr>
          </a:p>
          <a:p>
            <a:pPr marL="152400" indent="-139700">
              <a:lnSpc>
                <a:spcPct val="100000"/>
              </a:lnSpc>
              <a:spcBef>
                <a:spcPts val="615"/>
              </a:spcBef>
              <a:buChar char="•"/>
              <a:tabLst>
                <a:tab pos="152400" algn="l"/>
              </a:tabLst>
            </a:pP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Scikit-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learn: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Machine Learning</a:t>
            </a:r>
            <a:r>
              <a:rPr dirty="0" sz="1400" spc="-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in 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Python.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00"/>
              </a:spcBef>
              <a:buFont typeface="Arial"/>
              <a:buChar char="•"/>
            </a:pPr>
            <a:endParaRPr sz="1400">
              <a:latin typeface="Arial MT"/>
              <a:cs typeface="Arial MT"/>
            </a:endParaRPr>
          </a:p>
          <a:p>
            <a:pPr marL="152400" indent="-139700">
              <a:lnSpc>
                <a:spcPct val="100000"/>
              </a:lnSpc>
              <a:buChar char="•"/>
              <a:tabLst>
                <a:tab pos="152400" algn="l"/>
              </a:tabLst>
            </a:pPr>
            <a:r>
              <a:rPr dirty="0" sz="1400" b="1">
                <a:solidFill>
                  <a:srgbClr val="111111"/>
                </a:solidFill>
                <a:latin typeface="Arial"/>
                <a:cs typeface="Arial"/>
              </a:rPr>
              <a:t>Node.js</a:t>
            </a:r>
            <a:r>
              <a:rPr dirty="0" sz="1400" spc="-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111111"/>
                </a:solidFill>
                <a:latin typeface="Arial"/>
                <a:cs typeface="Arial"/>
              </a:rPr>
              <a:t>Official</a:t>
            </a:r>
            <a:r>
              <a:rPr dirty="0" sz="1400" spc="-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111111"/>
                </a:solidFill>
                <a:latin typeface="Arial"/>
                <a:cs typeface="Arial"/>
              </a:rPr>
              <a:t>Documentation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00"/>
              </a:spcBef>
              <a:buFont typeface="Arial"/>
              <a:buChar char="•"/>
            </a:pPr>
            <a:endParaRPr sz="1400">
              <a:latin typeface="Arial"/>
              <a:cs typeface="Arial"/>
            </a:endParaRPr>
          </a:p>
          <a:p>
            <a:pPr marL="152400" indent="-139700">
              <a:lnSpc>
                <a:spcPct val="100000"/>
              </a:lnSpc>
              <a:buChar char="•"/>
              <a:tabLst>
                <a:tab pos="152400" algn="l"/>
              </a:tabLst>
            </a:pPr>
            <a:r>
              <a:rPr dirty="0" sz="1400" b="1">
                <a:solidFill>
                  <a:srgbClr val="111111"/>
                </a:solidFill>
                <a:latin typeface="Arial"/>
                <a:cs typeface="Arial"/>
              </a:rPr>
              <a:t>Python</a:t>
            </a:r>
            <a:r>
              <a:rPr dirty="0" sz="1400" spc="-2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111111"/>
                </a:solidFill>
                <a:latin typeface="Arial"/>
                <a:cs typeface="Arial"/>
              </a:rPr>
              <a:t>Software</a:t>
            </a:r>
            <a:r>
              <a:rPr dirty="0" sz="1400" spc="-2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111111"/>
                </a:solidFill>
                <a:latin typeface="Arial"/>
                <a:cs typeface="Arial"/>
              </a:rPr>
              <a:t>Foundation</a:t>
            </a:r>
            <a:r>
              <a:rPr dirty="0" sz="1400" spc="-2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111111"/>
                </a:solidFill>
                <a:latin typeface="Arial"/>
                <a:cs typeface="Arial"/>
              </a:rPr>
              <a:t>Documentation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82811" y="1441315"/>
            <a:ext cx="3893304" cy="393547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 I PPT Template 2026</dc:title>
  <dcterms:created xsi:type="dcterms:W3CDTF">2026-04-21T02:34:25Z</dcterms:created>
  <dcterms:modified xsi:type="dcterms:W3CDTF">2026-04-21T02:34:25Z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2026-03-16T00:00:00Z</vt:filetime>
  </property>
  <property fmtid="{D5CDD505-2E9C-101B-9397-08002B2CF9AE}" pid="4" name="Creator">
    <vt:lpwstr>Keynote</vt:lpwstr>
  </property>
  <property fmtid="{D5CDD505-2E9C-101B-9397-08002B2CF9AE}" pid="5" name="LastSaved">
    <vt:filetime>2026-04-21T00:00:00Z</vt:filetime>
  </property>
  <property fmtid="{D5CDD505-2E9C-101B-9397-08002B2CF9AE}" pid="6" name="Producer">
    <vt:lpwstr>macOS Version 26.3.1 (Build 25D2128) Quartz PDFContext</vt:lpwstr>
  </property>
</Properties>
</file>